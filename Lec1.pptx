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4"/>
  </p:sldMasterIdLst>
  <p:notesMasterIdLst>
    <p:notesMasterId r:id="rId45"/>
  </p:notesMasterIdLst>
  <p:sldIdLst>
    <p:sldId id="256" r:id="rId5"/>
    <p:sldId id="367" r:id="rId6"/>
    <p:sldId id="270" r:id="rId7"/>
    <p:sldId id="368" r:id="rId8"/>
    <p:sldId id="259" r:id="rId9"/>
    <p:sldId id="260" r:id="rId10"/>
    <p:sldId id="261" r:id="rId11"/>
    <p:sldId id="296" r:id="rId12"/>
    <p:sldId id="263" r:id="rId13"/>
    <p:sldId id="366" r:id="rId14"/>
    <p:sldId id="339" r:id="rId15"/>
    <p:sldId id="340" r:id="rId16"/>
    <p:sldId id="341" r:id="rId17"/>
    <p:sldId id="301" r:id="rId18"/>
    <p:sldId id="303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3" r:id="rId40"/>
    <p:sldId id="362" r:id="rId41"/>
    <p:sldId id="364" r:id="rId42"/>
    <p:sldId id="365" r:id="rId43"/>
    <p:sldId id="278" r:id="rId44"/>
  </p:sldIdLst>
  <p:sldSz cx="9144000" cy="5143500" type="screen16x9"/>
  <p:notesSz cx="6858000" cy="9144000"/>
  <p:embeddedFontLst>
    <p:embeddedFont>
      <p:font typeface="Arvo" panose="020B0604020202020204" charset="0"/>
      <p:regular r:id="rId46"/>
      <p:bold r:id="rId47"/>
      <p:italic r:id="rId48"/>
      <p:boldItalic r:id="rId49"/>
    </p:embeddedFont>
    <p:embeddedFont>
      <p:font typeface="Roboto Condensed" panose="02000000000000000000" pitchFamily="2" charset="0"/>
      <p:regular r:id="rId50"/>
      <p:bold r:id="rId51"/>
      <p:italic r:id="rId52"/>
      <p:boldItalic r:id="rId53"/>
    </p:embeddedFont>
    <p:embeddedFont>
      <p:font typeface="Roboto Condensed Light" panose="02000000000000000000" pitchFamily="2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6901C2-C982-4053-BDF4-245DCE8A6F95}" v="4" dt="2022-01-06T18:54:08.177"/>
  </p1510:revLst>
</p1510:revInfo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9.fntdata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a Mohamed Ali" userId="S::nada.mohamed.ali15_gmail.com#ext#@mcitegypt.onmicrosoft.com::a0150bae-9256-4bf9-8120-77646f2c5ad8" providerId="AD" clId="Web-{B36901C2-C982-4053-BDF4-245DCE8A6F95}"/>
    <pc:docChg chg="modSld">
      <pc:chgData name="Nada Mohamed Ali" userId="S::nada.mohamed.ali15_gmail.com#ext#@mcitegypt.onmicrosoft.com::a0150bae-9256-4bf9-8120-77646f2c5ad8" providerId="AD" clId="Web-{B36901C2-C982-4053-BDF4-245DCE8A6F95}" dt="2022-01-06T18:54:08.177" v="3" actId="20577"/>
      <pc:docMkLst>
        <pc:docMk/>
      </pc:docMkLst>
      <pc:sldChg chg="modSp">
        <pc:chgData name="Nada Mohamed Ali" userId="S::nada.mohamed.ali15_gmail.com#ext#@mcitegypt.onmicrosoft.com::a0150bae-9256-4bf9-8120-77646f2c5ad8" providerId="AD" clId="Web-{B36901C2-C982-4053-BDF4-245DCE8A6F95}" dt="2022-01-06T18:54:08.177" v="3" actId="20577"/>
        <pc:sldMkLst>
          <pc:docMk/>
          <pc:sldMk cId="2746431915" sldId="358"/>
        </pc:sldMkLst>
        <pc:spChg chg="mod">
          <ac:chgData name="Nada Mohamed Ali" userId="S::nada.mohamed.ali15_gmail.com#ext#@mcitegypt.onmicrosoft.com::a0150bae-9256-4bf9-8120-77646f2c5ad8" providerId="AD" clId="Web-{B36901C2-C982-4053-BDF4-245DCE8A6F95}" dt="2022-01-06T18:54:08.177" v="3" actId="20577"/>
          <ac:spMkLst>
            <pc:docMk/>
            <pc:sldMk cId="2746431915" sldId="358"/>
            <ac:spMk id="14" creationId="{BCEAA2C8-6F2C-4025-B6AA-60A7DF3E74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430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04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031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191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20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257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328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52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612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08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1807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904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5511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74160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686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12532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09791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272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47060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85665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8647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5035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9254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020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5132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1270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4715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 i="1">
                <a:solidFill>
                  <a:srgbClr val="FFFFFF"/>
                </a:solidFill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accent5"/>
                </a:solidFill>
              </a:rPr>
              <a:t>“</a:t>
            </a:r>
            <a:endParaRPr sz="7200" b="1">
              <a:solidFill>
                <a:schemeClr val="accent5"/>
              </a:solidFill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6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entities.as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w3schools.com/html/html_symbols.asp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 &amp; Css</a:t>
            </a:r>
            <a:br>
              <a:rPr lang="en" dirty="0"/>
            </a:br>
            <a:r>
              <a:rPr lang="en" dirty="0"/>
              <a:t>Day1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5ED617-294A-4B89-BE44-94AE5F887F5A}"/>
              </a:ext>
            </a:extLst>
          </p:cNvPr>
          <p:cNvSpPr txBox="1"/>
          <p:nvPr/>
        </p:nvSpPr>
        <p:spPr>
          <a:xfrm>
            <a:off x="288758" y="4223084"/>
            <a:ext cx="2911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ENG. Mikhail </a:t>
            </a:r>
            <a:r>
              <a:rPr lang="en-US" sz="1600" b="1"/>
              <a:t>Emad Saeed</a:t>
            </a:r>
            <a:endParaRPr lang="en-US" sz="1600" b="1" dirty="0"/>
          </a:p>
          <a:p>
            <a:pPr algn="ctr"/>
            <a:r>
              <a:rPr lang="en-US" sz="1400" b="1" dirty="0" err="1"/>
              <a:t>iTi</a:t>
            </a:r>
            <a:r>
              <a:rPr lang="en-US" sz="1400" b="1" dirty="0"/>
              <a:t> Staff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2601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" name="Google Shape;249;p17">
            <a:extLst>
              <a:ext uri="{FF2B5EF4-FFF2-40B4-BE49-F238E27FC236}">
                <a16:creationId xmlns:a16="http://schemas.microsoft.com/office/drawing/2014/main" id="{E969C820-7DCD-40D1-B81E-4EA16E9637A0}"/>
              </a:ext>
            </a:extLst>
          </p:cNvPr>
          <p:cNvSpPr txBox="1">
            <a:spLocks/>
          </p:cNvSpPr>
          <p:nvPr/>
        </p:nvSpPr>
        <p:spPr>
          <a:xfrm>
            <a:off x="164540" y="601579"/>
            <a:ext cx="5730934" cy="95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9800"/>
                </a:solidFill>
                <a:latin typeface="Arial" panose="020B0604020202020204" pitchFamily="34" charset="0"/>
              </a:rPr>
              <a:t>Client Server  architecture..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1408D-97D1-4E85-997D-F38C3CA7F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564" y="59197"/>
            <a:ext cx="639789" cy="7136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CFCCC6-5BD1-4794-97A0-2726E3219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7992" y="1245871"/>
            <a:ext cx="7655539" cy="38855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1" name="Google Shape;249;p17">
            <a:extLst>
              <a:ext uri="{FF2B5EF4-FFF2-40B4-BE49-F238E27FC236}">
                <a16:creationId xmlns:a16="http://schemas.microsoft.com/office/drawing/2014/main" id="{E969C820-7DCD-40D1-B81E-4EA16E9637A0}"/>
              </a:ext>
            </a:extLst>
          </p:cNvPr>
          <p:cNvSpPr txBox="1">
            <a:spLocks/>
          </p:cNvSpPr>
          <p:nvPr/>
        </p:nvSpPr>
        <p:spPr>
          <a:xfrm>
            <a:off x="164540" y="601579"/>
            <a:ext cx="5730934" cy="95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9800"/>
                </a:solidFill>
                <a:latin typeface="Arial" panose="020B0604020202020204" pitchFamily="34" charset="0"/>
              </a:rPr>
              <a:t>Client side and Server side..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1408D-97D1-4E85-997D-F38C3CA7F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564" y="59197"/>
            <a:ext cx="639789" cy="713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91C31B-23B0-49B0-BDE9-C9E8526C5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36" y="1748598"/>
            <a:ext cx="6593305" cy="30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5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HTML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is a </a:t>
            </a:r>
            <a:r>
              <a:rPr lang="en-US" b="1" i="0" u="sng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Hyper-Text Markup Language.</a:t>
            </a:r>
            <a:r>
              <a:rPr lang="en" dirty="0">
                <a:solidFill>
                  <a:srgbClr val="FF9800"/>
                </a:solidFill>
              </a:rPr>
              <a:t>.</a:t>
            </a:r>
            <a:endParaRPr dirty="0">
              <a:solidFill>
                <a:srgbClr val="FF9800"/>
              </a:solidFill>
            </a:endParaRPr>
          </a:p>
        </p:txBody>
      </p:sp>
      <p:sp>
        <p:nvSpPr>
          <p:cNvPr id="230" name="Google Shape;230;p15"/>
          <p:cNvSpPr txBox="1">
            <a:spLocks noGrp="1"/>
          </p:cNvSpPr>
          <p:nvPr>
            <p:ph type="sldNum" idx="4294967295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HTML ?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340042" y="2177715"/>
            <a:ext cx="8152034" cy="19009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is a language for describing web pages.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is not a programming language, it is a markup language.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A markup language is a set of markup tags.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uses markup tags to describe web pages.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is W3C Recommendation.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language isn’t case- sensitive, and doesn’t affect by spaces and line breaks.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Arial" panose="020B0604020202020204" pitchFamily="34" charset="0"/>
              </a:rPr>
              <a:t>HTML is Browser Dependent language. </a:t>
            </a:r>
            <a:endParaRPr b="1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F69D791-1FE7-4C2A-9EA9-D0B812E5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50986"/>
            <a:ext cx="820846" cy="821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" name="Google Shape;249;p17">
            <a:extLst>
              <a:ext uri="{FF2B5EF4-FFF2-40B4-BE49-F238E27FC236}">
                <a16:creationId xmlns:a16="http://schemas.microsoft.com/office/drawing/2014/main" id="{E969C820-7DCD-40D1-B81E-4EA16E9637A0}"/>
              </a:ext>
            </a:extLst>
          </p:cNvPr>
          <p:cNvSpPr txBox="1">
            <a:spLocks/>
          </p:cNvSpPr>
          <p:nvPr/>
        </p:nvSpPr>
        <p:spPr>
          <a:xfrm>
            <a:off x="164540" y="601580"/>
            <a:ext cx="8940860" cy="98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>
              <a:spcAft>
                <a:spcPts val="1000"/>
              </a:spcAft>
              <a:buFont typeface="Roboto Condensed Light"/>
              <a:buNone/>
            </a:pPr>
            <a:r>
              <a:rPr lang="en-US" b="1" dirty="0">
                <a:solidFill>
                  <a:srgbClr val="FF9800"/>
                </a:solidFill>
                <a:latin typeface="Arial" panose="020B0604020202020204" pitchFamily="34" charset="0"/>
              </a:rPr>
              <a:t>HTML Versions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34A9A-9AEB-4D5C-B93C-255981A03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50986"/>
            <a:ext cx="820846" cy="8214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7D34C8-69AA-4D00-AC48-00CA86ED47B2}"/>
              </a:ext>
            </a:extLst>
          </p:cNvPr>
          <p:cNvSpPr txBox="1"/>
          <p:nvPr/>
        </p:nvSpPr>
        <p:spPr>
          <a:xfrm>
            <a:off x="7122380" y="2768838"/>
            <a:ext cx="822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2014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111263-77DD-4D03-90FF-35936F5C3F1C}"/>
              </a:ext>
            </a:extLst>
          </p:cNvPr>
          <p:cNvSpPr txBox="1"/>
          <p:nvPr/>
        </p:nvSpPr>
        <p:spPr>
          <a:xfrm>
            <a:off x="5806928" y="2768837"/>
            <a:ext cx="822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2000</a:t>
            </a:r>
          </a:p>
        </p:txBody>
      </p: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BD22E92A-356B-40CB-8D2A-5C97D62A9E52}"/>
              </a:ext>
            </a:extLst>
          </p:cNvPr>
          <p:cNvSpPr/>
          <p:nvPr/>
        </p:nvSpPr>
        <p:spPr>
          <a:xfrm>
            <a:off x="38600" y="1584265"/>
            <a:ext cx="9066800" cy="2253809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C7DCF6-8437-4A9D-9137-2A467375842E}"/>
              </a:ext>
            </a:extLst>
          </p:cNvPr>
          <p:cNvSpPr/>
          <p:nvPr/>
        </p:nvSpPr>
        <p:spPr>
          <a:xfrm>
            <a:off x="741661" y="2246435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1991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A183F17-5153-4FC8-8282-C27F9689DF9A}"/>
              </a:ext>
            </a:extLst>
          </p:cNvPr>
          <p:cNvSpPr/>
          <p:nvPr/>
        </p:nvSpPr>
        <p:spPr>
          <a:xfrm>
            <a:off x="2132760" y="2246434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1995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EA92D4-EA42-4A43-B29A-ECBAD404D72F}"/>
              </a:ext>
            </a:extLst>
          </p:cNvPr>
          <p:cNvSpPr/>
          <p:nvPr/>
        </p:nvSpPr>
        <p:spPr>
          <a:xfrm>
            <a:off x="3415571" y="2246433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1997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2CCE7C-349E-47E0-8938-CCC8FABCBBF0}"/>
              </a:ext>
            </a:extLst>
          </p:cNvPr>
          <p:cNvSpPr/>
          <p:nvPr/>
        </p:nvSpPr>
        <p:spPr>
          <a:xfrm>
            <a:off x="4686499" y="2246432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1999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75EF385-9F2F-4A3D-902D-F49B9EBABAD9}"/>
              </a:ext>
            </a:extLst>
          </p:cNvPr>
          <p:cNvSpPr/>
          <p:nvPr/>
        </p:nvSpPr>
        <p:spPr>
          <a:xfrm>
            <a:off x="5980403" y="2246431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2000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2CDC117-993E-401F-9429-31D4360311F1}"/>
              </a:ext>
            </a:extLst>
          </p:cNvPr>
          <p:cNvSpPr/>
          <p:nvPr/>
        </p:nvSpPr>
        <p:spPr>
          <a:xfrm>
            <a:off x="7150229" y="2296080"/>
            <a:ext cx="950495" cy="830179"/>
          </a:xfrm>
          <a:prstGeom prst="ellipse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2014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2FDBC2-6F67-42A9-AECB-A3F47789707D}"/>
              </a:ext>
            </a:extLst>
          </p:cNvPr>
          <p:cNvSpPr txBox="1"/>
          <p:nvPr/>
        </p:nvSpPr>
        <p:spPr>
          <a:xfrm>
            <a:off x="482094" y="1584264"/>
            <a:ext cx="1204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HTML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1C766F-38E2-4250-B2A1-4340BEBDF3AC}"/>
              </a:ext>
            </a:extLst>
          </p:cNvPr>
          <p:cNvSpPr txBox="1"/>
          <p:nvPr/>
        </p:nvSpPr>
        <p:spPr>
          <a:xfrm>
            <a:off x="1750364" y="3376409"/>
            <a:ext cx="167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HTML 2.0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8E961D-F027-4D7B-942B-FB24510C77E6}"/>
              </a:ext>
            </a:extLst>
          </p:cNvPr>
          <p:cNvSpPr txBox="1"/>
          <p:nvPr/>
        </p:nvSpPr>
        <p:spPr>
          <a:xfrm>
            <a:off x="3058501" y="1503332"/>
            <a:ext cx="167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HTML 3.2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CFB951-3DD0-46D2-AF18-2A76CBEBD52B}"/>
              </a:ext>
            </a:extLst>
          </p:cNvPr>
          <p:cNvSpPr txBox="1"/>
          <p:nvPr/>
        </p:nvSpPr>
        <p:spPr>
          <a:xfrm>
            <a:off x="4231292" y="3328402"/>
            <a:ext cx="195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HTML 4.01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C4FFC-F131-4BFF-A9CA-4077FA9DCE72}"/>
              </a:ext>
            </a:extLst>
          </p:cNvPr>
          <p:cNvSpPr txBox="1"/>
          <p:nvPr/>
        </p:nvSpPr>
        <p:spPr>
          <a:xfrm>
            <a:off x="6670960" y="3340312"/>
            <a:ext cx="195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HTML 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445EF-35B7-46EE-827F-15C99B2A7D43}"/>
              </a:ext>
            </a:extLst>
          </p:cNvPr>
          <p:cNvSpPr txBox="1"/>
          <p:nvPr/>
        </p:nvSpPr>
        <p:spPr>
          <a:xfrm>
            <a:off x="5506755" y="1625469"/>
            <a:ext cx="1957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XHTML </a:t>
            </a:r>
          </a:p>
        </p:txBody>
      </p:sp>
    </p:spTree>
    <p:extLst>
      <p:ext uri="{BB962C8B-B14F-4D97-AF65-F5344CB8AC3E}">
        <p14:creationId xmlns:p14="http://schemas.microsoft.com/office/powerpoint/2010/main" val="379183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Elements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75D59AE2-2F3A-4899-AB49-0AE9684DE169}"/>
              </a:ext>
            </a:extLst>
          </p:cNvPr>
          <p:cNvSpPr/>
          <p:nvPr/>
        </p:nvSpPr>
        <p:spPr>
          <a:xfrm>
            <a:off x="96253" y="1352680"/>
            <a:ext cx="5366084" cy="3599419"/>
          </a:xfrm>
          <a:prstGeom prst="verticalScroll">
            <a:avLst>
              <a:gd name="adj" fmla="val 68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Arial" panose="020B0604020202020204" pitchFamily="34" charset="0"/>
              </a:rPr>
              <a:t>&lt;p&gt;My first paragraph.&lt;/p&gt;</a:t>
            </a:r>
          </a:p>
          <a:p>
            <a:endParaRPr lang="en-US" sz="1600" b="1" dirty="0">
              <a:latin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</a:rPr>
              <a:t>&lt;</a:t>
            </a:r>
            <a:r>
              <a:rPr lang="en-US" sz="1600" b="1" dirty="0" err="1">
                <a:latin typeface="Arial" panose="020B0604020202020204" pitchFamily="34" charset="0"/>
              </a:rPr>
              <a:t>br</a:t>
            </a:r>
            <a:r>
              <a:rPr lang="en-US" sz="1600" b="1" dirty="0">
                <a:latin typeface="Arial" panose="020B0604020202020204" pitchFamily="34" charset="0"/>
              </a:rPr>
              <a:t>&gt;</a:t>
            </a:r>
          </a:p>
          <a:p>
            <a:endParaRPr lang="en-US" sz="1600" b="1" dirty="0">
              <a:latin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</a:rPr>
              <a:t>&lt;b&gt;</a:t>
            </a:r>
          </a:p>
          <a:p>
            <a:pPr lvl="3"/>
            <a:r>
              <a:rPr lang="en-US" sz="1600" b="1" dirty="0">
                <a:latin typeface="Arial" panose="020B0604020202020204" pitchFamily="34" charset="0"/>
              </a:rPr>
              <a:t>    &lt;</a:t>
            </a:r>
            <a:r>
              <a:rPr lang="en-US" sz="1600" b="1" dirty="0" err="1">
                <a:latin typeface="Arial" panose="020B0604020202020204" pitchFamily="34" charset="0"/>
              </a:rPr>
              <a:t>i</a:t>
            </a:r>
            <a:r>
              <a:rPr lang="en-US" sz="1600" b="1" dirty="0">
                <a:latin typeface="Arial" panose="020B0604020202020204" pitchFamily="34" charset="0"/>
              </a:rPr>
              <a:t>&gt;</a:t>
            </a:r>
          </a:p>
          <a:p>
            <a:pPr lvl="3"/>
            <a:r>
              <a:rPr lang="en-US" sz="1600" b="1" dirty="0">
                <a:latin typeface="Arial" panose="020B0604020202020204" pitchFamily="34" charset="0"/>
              </a:rPr>
              <a:t>         &lt;p&gt; Welcome &lt;/p&gt;</a:t>
            </a:r>
          </a:p>
          <a:p>
            <a:pPr lvl="3"/>
            <a:r>
              <a:rPr lang="en-US" sz="1600" b="1" dirty="0">
                <a:latin typeface="Arial" panose="020B0604020202020204" pitchFamily="34" charset="0"/>
              </a:rPr>
              <a:t>    &lt;/</a:t>
            </a:r>
            <a:r>
              <a:rPr lang="en-US" sz="1600" b="1" dirty="0" err="1">
                <a:latin typeface="Arial" panose="020B0604020202020204" pitchFamily="34" charset="0"/>
              </a:rPr>
              <a:t>i</a:t>
            </a:r>
            <a:r>
              <a:rPr lang="en-US" sz="1600" b="1" dirty="0">
                <a:latin typeface="Arial" panose="020B0604020202020204" pitchFamily="34" charset="0"/>
              </a:rPr>
              <a:t>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&lt;/b&gt;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E57BE1E-E97C-42FA-A86F-46BB2F7CFAD3}"/>
              </a:ext>
            </a:extLst>
          </p:cNvPr>
          <p:cNvCxnSpPr>
            <a:cxnSpLocks/>
          </p:cNvCxnSpPr>
          <p:nvPr/>
        </p:nvCxnSpPr>
        <p:spPr>
          <a:xfrm flipV="1">
            <a:off x="3229652" y="1842475"/>
            <a:ext cx="2684695" cy="371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A6150F-DBCB-4611-8B1A-2196293F496C}"/>
              </a:ext>
            </a:extLst>
          </p:cNvPr>
          <p:cNvSpPr txBox="1"/>
          <p:nvPr/>
        </p:nvSpPr>
        <p:spPr>
          <a:xfrm>
            <a:off x="5914348" y="1492678"/>
            <a:ext cx="5390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Start Tags and end Tags with </a:t>
            </a:r>
          </a:p>
          <a:p>
            <a:r>
              <a:rPr lang="en-US" sz="1600" b="1" dirty="0"/>
              <a:t>the content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267016-1608-46F2-9DA7-4BE0D2959884}"/>
              </a:ext>
            </a:extLst>
          </p:cNvPr>
          <p:cNvSpPr/>
          <p:nvPr/>
        </p:nvSpPr>
        <p:spPr>
          <a:xfrm>
            <a:off x="5914349" y="1456582"/>
            <a:ext cx="3037146" cy="71368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0A05FD-DA9C-440E-85E7-51DC0DA2F441}"/>
              </a:ext>
            </a:extLst>
          </p:cNvPr>
          <p:cNvCxnSpPr>
            <a:cxnSpLocks/>
          </p:cNvCxnSpPr>
          <p:nvPr/>
        </p:nvCxnSpPr>
        <p:spPr>
          <a:xfrm>
            <a:off x="1011831" y="2703584"/>
            <a:ext cx="46430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FD2C47-6117-4C7C-AD02-54DF70B231A2}"/>
              </a:ext>
            </a:extLst>
          </p:cNvPr>
          <p:cNvSpPr/>
          <p:nvPr/>
        </p:nvSpPr>
        <p:spPr>
          <a:xfrm>
            <a:off x="5652091" y="2332856"/>
            <a:ext cx="3037146" cy="71368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17EFA9-9967-4EEE-80C4-42B1D46EEB24}"/>
              </a:ext>
            </a:extLst>
          </p:cNvPr>
          <p:cNvSpPr txBox="1"/>
          <p:nvPr/>
        </p:nvSpPr>
        <p:spPr>
          <a:xfrm>
            <a:off x="5758313" y="2427838"/>
            <a:ext cx="5390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Self Close Tags without </a:t>
            </a:r>
          </a:p>
          <a:p>
            <a:r>
              <a:rPr lang="en-US" sz="1600" b="1" dirty="0"/>
              <a:t>content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6DA9C6-BECE-441B-9BBD-4066999DA681}"/>
              </a:ext>
            </a:extLst>
          </p:cNvPr>
          <p:cNvSpPr txBox="1"/>
          <p:nvPr/>
        </p:nvSpPr>
        <p:spPr>
          <a:xfrm>
            <a:off x="5652091" y="3380861"/>
            <a:ext cx="5390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 HTML elements can be nested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AE3F199-E3C7-446A-9C6C-7B196EB79428}"/>
              </a:ext>
            </a:extLst>
          </p:cNvPr>
          <p:cNvSpPr/>
          <p:nvPr/>
        </p:nvSpPr>
        <p:spPr>
          <a:xfrm>
            <a:off x="5758313" y="3344348"/>
            <a:ext cx="3133401" cy="448901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B8C5BC-659F-4F63-9925-BE384E9E5BDE}"/>
              </a:ext>
            </a:extLst>
          </p:cNvPr>
          <p:cNvCxnSpPr>
            <a:cxnSpLocks/>
          </p:cNvCxnSpPr>
          <p:nvPr/>
        </p:nvCxnSpPr>
        <p:spPr>
          <a:xfrm flipV="1">
            <a:off x="2827421" y="3525254"/>
            <a:ext cx="2824670" cy="1941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F62823C9-833E-4E48-B013-A15979827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50986"/>
            <a:ext cx="820846" cy="821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Comments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75D59AE2-2F3A-4899-AB49-0AE9684DE169}"/>
              </a:ext>
            </a:extLst>
          </p:cNvPr>
          <p:cNvSpPr/>
          <p:nvPr/>
        </p:nvSpPr>
        <p:spPr>
          <a:xfrm>
            <a:off x="312466" y="2546179"/>
            <a:ext cx="5366084" cy="1976557"/>
          </a:xfrm>
          <a:prstGeom prst="verticalScroll">
            <a:avLst>
              <a:gd name="adj" fmla="val 18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</a:rPr>
              <a:t>&lt;!-- This is a comment --&gt;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&lt;p&gt;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   This is a paragraph.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&lt;/p&gt;</a:t>
            </a:r>
          </a:p>
        </p:txBody>
      </p:sp>
      <p:sp>
        <p:nvSpPr>
          <p:cNvPr id="26" name="Google Shape;284;p19">
            <a:extLst>
              <a:ext uri="{FF2B5EF4-FFF2-40B4-BE49-F238E27FC236}">
                <a16:creationId xmlns:a16="http://schemas.microsoft.com/office/drawing/2014/main" id="{F7FAE2D6-EDF2-44CC-B130-7C9B4AFCF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466" y="1452869"/>
            <a:ext cx="8770390" cy="924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Comments are not displayed by the browser, but they can help document your HTML source code.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384353-9992-4CF9-A910-11C5304C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50986"/>
            <a:ext cx="820846" cy="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9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Attributes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75D59AE2-2F3A-4899-AB49-0AE9684DE169}"/>
              </a:ext>
            </a:extLst>
          </p:cNvPr>
          <p:cNvSpPr/>
          <p:nvPr/>
        </p:nvSpPr>
        <p:spPr>
          <a:xfrm>
            <a:off x="38600" y="3012613"/>
            <a:ext cx="5366084" cy="1976557"/>
          </a:xfrm>
          <a:prstGeom prst="verticalScroll">
            <a:avLst>
              <a:gd name="adj" fmla="val 18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Arial" panose="020B0604020202020204" pitchFamily="34" charset="0"/>
              </a:rPr>
              <a:t>&lt;p </a:t>
            </a:r>
            <a:r>
              <a:rPr lang="en-US" sz="1600" b="1" dirty="0">
                <a:solidFill>
                  <a:srgbClr val="FF9800"/>
                </a:solidFill>
                <a:latin typeface="Arial" panose="020B0604020202020204" pitchFamily="34" charset="0"/>
              </a:rPr>
              <a:t>title="I'm a tooltip"</a:t>
            </a:r>
            <a:r>
              <a:rPr lang="en-US" sz="1600" b="1" dirty="0">
                <a:latin typeface="Arial" panose="020B0604020202020204" pitchFamily="34" charset="0"/>
              </a:rPr>
              <a:t>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   This is a paragraph.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&lt;/p&gt;</a:t>
            </a:r>
          </a:p>
        </p:txBody>
      </p:sp>
      <p:sp>
        <p:nvSpPr>
          <p:cNvPr id="26" name="Google Shape;284;p19">
            <a:extLst>
              <a:ext uri="{FF2B5EF4-FFF2-40B4-BE49-F238E27FC236}">
                <a16:creationId xmlns:a16="http://schemas.microsoft.com/office/drawing/2014/main" id="{F7FAE2D6-EDF2-44CC-B130-7C9B4AFCF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466" y="1452869"/>
            <a:ext cx="8770390" cy="178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HTML Elements can have attributes.</a:t>
            </a:r>
          </a:p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Attributes provide additional information about HTML elements.</a:t>
            </a:r>
          </a:p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Attributes usually come in name/value pairs like: name="value“.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384353-9992-4CF9-A910-11C5304CA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50986"/>
            <a:ext cx="820846" cy="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2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Entities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75D59AE2-2F3A-4899-AB49-0AE9684DE169}"/>
              </a:ext>
            </a:extLst>
          </p:cNvPr>
          <p:cNvSpPr/>
          <p:nvPr/>
        </p:nvSpPr>
        <p:spPr>
          <a:xfrm>
            <a:off x="29408" y="3414304"/>
            <a:ext cx="4244642" cy="1690125"/>
          </a:xfrm>
          <a:prstGeom prst="verticalScroll">
            <a:avLst>
              <a:gd name="adj" fmla="val 18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Arial" panose="020B0604020202020204" pitchFamily="34" charset="0"/>
              </a:rPr>
              <a:t>&lt;p&gt;Welcome &amp;</a:t>
            </a:r>
            <a:r>
              <a:rPr lang="en-US" sz="1600" b="1" dirty="0" err="1">
                <a:latin typeface="Arial" panose="020B0604020202020204" pitchFamily="34" charset="0"/>
              </a:rPr>
              <a:t>nbsp</a:t>
            </a:r>
            <a:r>
              <a:rPr lang="en-US" sz="1600" b="1" dirty="0">
                <a:latin typeface="Arial" panose="020B0604020202020204" pitchFamily="34" charset="0"/>
              </a:rPr>
              <a:t>; &amp;</a:t>
            </a:r>
            <a:r>
              <a:rPr lang="en-US" sz="1600" b="1" dirty="0" err="1">
                <a:latin typeface="Arial" panose="020B0604020202020204" pitchFamily="34" charset="0"/>
              </a:rPr>
              <a:t>nbsp</a:t>
            </a:r>
            <a:r>
              <a:rPr lang="en-US" sz="1600" b="1" dirty="0">
                <a:latin typeface="Arial" panose="020B0604020202020204" pitchFamily="34" charset="0"/>
              </a:rPr>
              <a:t>; &amp;</a:t>
            </a:r>
            <a:r>
              <a:rPr lang="en-US" sz="1600" b="1" dirty="0" err="1">
                <a:latin typeface="Arial" panose="020B0604020202020204" pitchFamily="34" charset="0"/>
              </a:rPr>
              <a:t>nbsp</a:t>
            </a:r>
            <a:r>
              <a:rPr lang="en-US" sz="1600" b="1" dirty="0">
                <a:latin typeface="Arial" panose="020B0604020202020204" pitchFamily="34" charset="0"/>
              </a:rPr>
              <a:t>; iTi&lt;/p&gt;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&lt;p&gt;Welcome iTi&lt;/p&gt;</a:t>
            </a:r>
          </a:p>
          <a:p>
            <a:endParaRPr lang="en-US" sz="1600" b="1" dirty="0">
              <a:latin typeface="Arial" panose="020B0604020202020204" pitchFamily="34" charset="0"/>
            </a:endParaRPr>
          </a:p>
        </p:txBody>
      </p:sp>
      <p:sp>
        <p:nvSpPr>
          <p:cNvPr id="26" name="Google Shape;284;p19">
            <a:extLst>
              <a:ext uri="{FF2B5EF4-FFF2-40B4-BE49-F238E27FC236}">
                <a16:creationId xmlns:a16="http://schemas.microsoft.com/office/drawing/2014/main" id="{F7FAE2D6-EDF2-44CC-B130-7C9B4AFCF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6973" y="1417545"/>
            <a:ext cx="8770390" cy="16376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Reserved characters in HTML must be replaced with character entities.</a:t>
            </a:r>
          </a:p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 Entity names are case sensitive.</a:t>
            </a:r>
          </a:p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HTML </a:t>
            </a:r>
            <a:r>
              <a:rPr lang="en-US" sz="2100" b="1" dirty="0"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Entities</a:t>
            </a:r>
            <a:endParaRPr lang="en-US" sz="2100" b="1" dirty="0">
              <a:latin typeface="Arial" panose="020B0604020202020204" pitchFamily="34" charset="0"/>
            </a:endParaRPr>
          </a:p>
          <a:p>
            <a:pPr marL="285750" indent="-285750"/>
            <a:r>
              <a:rPr lang="en-US" sz="2100" b="1" dirty="0">
                <a:latin typeface="Arial" panose="020B0604020202020204" pitchFamily="34" charset="0"/>
              </a:rPr>
              <a:t> </a:t>
            </a:r>
            <a:r>
              <a:rPr lang="en-US" sz="2100" b="1" dirty="0"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Symbols</a:t>
            </a:r>
            <a:r>
              <a:rPr lang="en-US" sz="2100" b="1" dirty="0">
                <a:latin typeface="Arial" panose="020B0604020202020204" pitchFamily="34" charset="0"/>
              </a:rPr>
              <a:t> entities reference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D88D19-FDD0-49F1-A943-F3A087061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653BEC-5525-47E4-8ABE-8267CC0B4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679" y="2821132"/>
            <a:ext cx="4259534" cy="22278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4AFA78-B20F-47F2-B647-63B4BBE8310E}"/>
              </a:ext>
            </a:extLst>
          </p:cNvPr>
          <p:cNvSpPr txBox="1"/>
          <p:nvPr/>
        </p:nvSpPr>
        <p:spPr>
          <a:xfrm>
            <a:off x="4697661" y="3350263"/>
            <a:ext cx="2154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Welcome   iTi</a:t>
            </a:r>
          </a:p>
          <a:p>
            <a:r>
              <a:rPr lang="en-US" sz="1600" b="1" dirty="0"/>
              <a:t>Welcome iTi</a:t>
            </a:r>
          </a:p>
        </p:txBody>
      </p:sp>
    </p:spTree>
    <p:extLst>
      <p:ext uri="{BB962C8B-B14F-4D97-AF65-F5344CB8AC3E}">
        <p14:creationId xmlns:p14="http://schemas.microsoft.com/office/powerpoint/2010/main" val="22914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Colors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75D59AE2-2F3A-4899-AB49-0AE9684DE169}"/>
              </a:ext>
            </a:extLst>
          </p:cNvPr>
          <p:cNvSpPr/>
          <p:nvPr/>
        </p:nvSpPr>
        <p:spPr>
          <a:xfrm>
            <a:off x="76036" y="2571750"/>
            <a:ext cx="4244642" cy="1820283"/>
          </a:xfrm>
          <a:prstGeom prst="verticalScroll">
            <a:avLst>
              <a:gd name="adj" fmla="val 189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Arial" panose="020B0604020202020204" pitchFamily="34" charset="0"/>
              </a:rPr>
              <a:t>&lt;p style=“</a:t>
            </a:r>
            <a:r>
              <a:rPr lang="en-US" sz="1600" b="1" dirty="0" err="1">
                <a:latin typeface="Arial" panose="020B0604020202020204" pitchFamily="34" charset="0"/>
              </a:rPr>
              <a:t>color:red</a:t>
            </a:r>
            <a:r>
              <a:rPr lang="en-US" sz="1600" b="1" dirty="0">
                <a:latin typeface="Arial" panose="020B0604020202020204" pitchFamily="34" charset="0"/>
              </a:rPr>
              <a:t>”&gt;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Welcome iTi</a:t>
            </a:r>
          </a:p>
          <a:p>
            <a:r>
              <a:rPr lang="en-US" sz="1600" b="1" dirty="0">
                <a:latin typeface="Arial" panose="020B0604020202020204" pitchFamily="34" charset="0"/>
              </a:rPr>
              <a:t>&lt;/p&gt;</a:t>
            </a:r>
          </a:p>
          <a:p>
            <a:endParaRPr lang="en-US" sz="1600" b="1" dirty="0">
              <a:latin typeface="Arial" panose="020B0604020202020204" pitchFamily="34" charset="0"/>
            </a:endParaRPr>
          </a:p>
        </p:txBody>
      </p:sp>
      <p:sp>
        <p:nvSpPr>
          <p:cNvPr id="26" name="Google Shape;284;p19">
            <a:extLst>
              <a:ext uri="{FF2B5EF4-FFF2-40B4-BE49-F238E27FC236}">
                <a16:creationId xmlns:a16="http://schemas.microsoft.com/office/drawing/2014/main" id="{F7FAE2D6-EDF2-44CC-B130-7C9B4AFCF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466" y="1452869"/>
            <a:ext cx="8770390" cy="178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2400" b="1" dirty="0"/>
              <a:t> </a:t>
            </a:r>
            <a:r>
              <a:rPr lang="en-US" sz="2100" b="1" dirty="0">
                <a:latin typeface="Arial" panose="020B0604020202020204" pitchFamily="34" charset="0"/>
              </a:rPr>
              <a:t>In HTML, a color can be specified by using a color name, an RGB value, or a HEX value.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D88D19-FDD0-49F1-A943-F3A087061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653BEC-5525-47E4-8ABE-8267CC0B4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043" y="2561699"/>
            <a:ext cx="4259534" cy="20112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4AFA78-B20F-47F2-B647-63B4BBE8310E}"/>
              </a:ext>
            </a:extLst>
          </p:cNvPr>
          <p:cNvSpPr txBox="1"/>
          <p:nvPr/>
        </p:nvSpPr>
        <p:spPr>
          <a:xfrm>
            <a:off x="4697661" y="3064299"/>
            <a:ext cx="2154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Welcome iTi</a:t>
            </a:r>
          </a:p>
        </p:txBody>
      </p:sp>
    </p:spTree>
    <p:extLst>
      <p:ext uri="{BB962C8B-B14F-4D97-AF65-F5344CB8AC3E}">
        <p14:creationId xmlns:p14="http://schemas.microsoft.com/office/powerpoint/2010/main" val="205379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Start ….</a:t>
            </a:r>
            <a:endParaRPr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1FD7B-1897-4000-B213-2C2E30629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54" t="17018" r="14632" b="13930"/>
          <a:stretch/>
        </p:blipFill>
        <p:spPr>
          <a:xfrm flipH="1">
            <a:off x="2935706" y="3033068"/>
            <a:ext cx="1927098" cy="16034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2566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Document structure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38599" y="1365423"/>
            <a:ext cx="5929063" cy="3687840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&lt;html&gt;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    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          &lt;title&gt;A Simple Document&lt;/title&gt;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    &lt;/head&gt;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   &lt;body&gt;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        &lt;p&gt;Page content&lt;/p&gt;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   &lt;/body&gt;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&lt;/html&gt;</a:t>
            </a:r>
            <a:endParaRPr lang="en-US" sz="20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A586CAC-4B24-44B9-B124-EE4A97D01727}"/>
              </a:ext>
            </a:extLst>
          </p:cNvPr>
          <p:cNvCxnSpPr>
            <a:cxnSpLocks/>
          </p:cNvCxnSpPr>
          <p:nvPr/>
        </p:nvCxnSpPr>
        <p:spPr>
          <a:xfrm flipV="1">
            <a:off x="4733830" y="2344662"/>
            <a:ext cx="1326813" cy="5632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003D87-D90A-490E-BA12-3EBECBABC498}"/>
              </a:ext>
            </a:extLst>
          </p:cNvPr>
          <p:cNvCxnSpPr>
            <a:cxnSpLocks/>
          </p:cNvCxnSpPr>
          <p:nvPr/>
        </p:nvCxnSpPr>
        <p:spPr>
          <a:xfrm flipV="1">
            <a:off x="3705726" y="3375246"/>
            <a:ext cx="2104333" cy="4707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342F7B-889B-4C9C-AFB9-52D5D34D35CC}"/>
              </a:ext>
            </a:extLst>
          </p:cNvPr>
          <p:cNvSpPr txBox="1"/>
          <p:nvPr/>
        </p:nvSpPr>
        <p:spPr>
          <a:xfrm>
            <a:off x="6260845" y="1984267"/>
            <a:ext cx="2736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Head Tag &lt;head&gt;&lt;/head&gt;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69464A-7256-4675-A02A-8CAC473D4478}"/>
              </a:ext>
            </a:extLst>
          </p:cNvPr>
          <p:cNvSpPr txBox="1"/>
          <p:nvPr/>
        </p:nvSpPr>
        <p:spPr>
          <a:xfrm>
            <a:off x="6072675" y="3037805"/>
            <a:ext cx="31870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Body Tag &lt;body&gt;&lt;/body&gt;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709340-8DF9-41E1-B77B-80D2DA2E3A4D}"/>
              </a:ext>
            </a:extLst>
          </p:cNvPr>
          <p:cNvSpPr/>
          <p:nvPr/>
        </p:nvSpPr>
        <p:spPr>
          <a:xfrm>
            <a:off x="6171616" y="1948171"/>
            <a:ext cx="2892768" cy="396491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22E230-9943-42E1-A832-81D4344816D8}"/>
              </a:ext>
            </a:extLst>
          </p:cNvPr>
          <p:cNvSpPr/>
          <p:nvPr/>
        </p:nvSpPr>
        <p:spPr>
          <a:xfrm>
            <a:off x="5967662" y="3021878"/>
            <a:ext cx="2892768" cy="396491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6A9A44D-9C34-418B-9046-2448CC67A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Document structure…..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85065A3-DC53-45CF-A0D9-48BEDD77C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6" y="1435289"/>
            <a:ext cx="5725188" cy="29147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742177-86BA-4CA3-B705-5BC5AAEF09DF}"/>
              </a:ext>
            </a:extLst>
          </p:cNvPr>
          <p:cNvSpPr txBox="1"/>
          <p:nvPr/>
        </p:nvSpPr>
        <p:spPr>
          <a:xfrm>
            <a:off x="170196" y="2057402"/>
            <a:ext cx="4439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Arial" panose="020B0604020202020204" pitchFamily="34" charset="0"/>
              </a:rPr>
              <a:t>Page content</a:t>
            </a:r>
          </a:p>
          <a:p>
            <a:endParaRPr lang="en-US" dirty="0"/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1EC46422-051B-475F-9086-9EE996938FF9}"/>
              </a:ext>
            </a:extLst>
          </p:cNvPr>
          <p:cNvSpPr/>
          <p:nvPr/>
        </p:nvSpPr>
        <p:spPr>
          <a:xfrm>
            <a:off x="6037482" y="1639826"/>
            <a:ext cx="3020678" cy="1584637"/>
          </a:xfrm>
          <a:prstGeom prst="cloudCallout">
            <a:avLst>
              <a:gd name="adj1" fmla="val -49909"/>
              <a:gd name="adj2" fmla="val 8679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Let’s Try it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0FC209-7D4B-4720-BEFA-F2FE4917BB51}"/>
              </a:ext>
            </a:extLst>
          </p:cNvPr>
          <p:cNvSpPr txBox="1"/>
          <p:nvPr/>
        </p:nvSpPr>
        <p:spPr>
          <a:xfrm>
            <a:off x="1056522" y="1295890"/>
            <a:ext cx="44396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i="0" dirty="0">
              <a:effectLst/>
              <a:latin typeface="Arial" panose="020B0604020202020204" pitchFamily="34" charset="0"/>
            </a:endParaRPr>
          </a:p>
          <a:p>
            <a:r>
              <a:rPr lang="en-US" sz="1400" b="1" i="0" dirty="0">
                <a:effectLst/>
                <a:latin typeface="Arial" panose="020B0604020202020204" pitchFamily="34" charset="0"/>
              </a:rPr>
              <a:t>A Simple Document</a:t>
            </a:r>
            <a:endParaRPr lang="en-US" sz="1400" b="1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12CA08-61AC-450C-831A-273B07615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Head Section…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5347913" y="2083891"/>
            <a:ext cx="3667127" cy="1594696"/>
          </a:xfrm>
          <a:prstGeom prst="verticalScroll">
            <a:avLst>
              <a:gd name="adj" fmla="val 230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&lt;title&gt;My page &lt;/title&gt;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  <a:endParaRPr lang="en-US" sz="20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2B8691-6611-4D61-B19E-6CE4212DD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0" y="1845396"/>
            <a:ext cx="4986718" cy="29055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3A9DA12-0725-43F0-9E3F-36E4B3B156AF}"/>
              </a:ext>
            </a:extLst>
          </p:cNvPr>
          <p:cNvSpPr txBox="1"/>
          <p:nvPr/>
        </p:nvSpPr>
        <p:spPr>
          <a:xfrm>
            <a:off x="908260" y="1930003"/>
            <a:ext cx="4439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dirty="0">
                <a:effectLst/>
                <a:latin typeface="Arial" panose="020B0604020202020204" pitchFamily="34" charset="0"/>
              </a:rPr>
              <a:t>My Page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B0104A-B615-4D0F-99C4-E59107520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BD9F88D-8DF6-486C-B799-E4EED650A5B1}"/>
              </a:ext>
            </a:extLst>
          </p:cNvPr>
          <p:cNvSpPr txBox="1"/>
          <p:nvPr/>
        </p:nvSpPr>
        <p:spPr>
          <a:xfrm>
            <a:off x="335513" y="1342691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Title Tag: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Define Web Page’s title</a:t>
            </a:r>
          </a:p>
        </p:txBody>
      </p:sp>
    </p:spTree>
    <p:extLst>
      <p:ext uri="{BB962C8B-B14F-4D97-AF65-F5344CB8AC3E}">
        <p14:creationId xmlns:p14="http://schemas.microsoft.com/office/powerpoint/2010/main" val="2904292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Head Section…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38600" y="2185559"/>
            <a:ext cx="8503821" cy="2885749"/>
          </a:xfrm>
          <a:prstGeom prst="verticalScroll">
            <a:avLst>
              <a:gd name="adj" fmla="val 5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charset="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UTF-8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description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 content="Free Web tutorials"&gt;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keywords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 content="</a:t>
            </a:r>
            <a:r>
              <a:rPr lang="en-US" sz="1800" b="1" i="0" dirty="0" err="1">
                <a:effectLst/>
                <a:latin typeface="Arial" panose="020B0604020202020204" pitchFamily="34" charset="0"/>
              </a:rPr>
              <a:t>HTML,CSS,XML,JavaScript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http-</a:t>
            </a:r>
            <a:r>
              <a:rPr lang="en-US" sz="1800" b="1" i="0" dirty="0" err="1">
                <a:effectLst/>
                <a:latin typeface="Arial" panose="020B0604020202020204" pitchFamily="34" charset="0"/>
              </a:rPr>
              <a:t>equiv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refresh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 content="30;URL='http://www.iti.gov.eg/'"&gt;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viewport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 content="width=device-width, initial-scale=1"&gt;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http-</a:t>
            </a:r>
            <a:r>
              <a:rPr lang="en-US" sz="1800" b="1" i="0" dirty="0" err="1">
                <a:effectLst/>
                <a:latin typeface="Arial" panose="020B0604020202020204" pitchFamily="34" charset="0"/>
              </a:rPr>
              <a:t>equiv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="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refresh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" content="30;URL='http://www.iti.gov.eg/'"&gt;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B0104A-B615-4D0F-99C4-E5910752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8BDF3-2B19-423A-B197-88B2DDDA29DD}"/>
              </a:ext>
            </a:extLst>
          </p:cNvPr>
          <p:cNvSpPr txBox="1"/>
          <p:nvPr/>
        </p:nvSpPr>
        <p:spPr>
          <a:xfrm>
            <a:off x="382573" y="1330299"/>
            <a:ext cx="8312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Meta Tags: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used to store information usually relevant to browsers and search engines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1549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Meta tags…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382573" y="1869960"/>
            <a:ext cx="7579400" cy="116597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name=“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keywords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 content=“HTML , CSS , JavaScript”&gt;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B0104A-B615-4D0F-99C4-E5910752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8BDF3-2B19-423A-B197-88B2DDDA29DD}"/>
              </a:ext>
            </a:extLst>
          </p:cNvPr>
          <p:cNvSpPr txBox="1"/>
          <p:nvPr/>
        </p:nvSpPr>
        <p:spPr>
          <a:xfrm>
            <a:off x="382573" y="1330299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Keywords: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Define Keywords for search engines.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E049D-E3CD-40FA-AAB9-966C1BE70A27}"/>
              </a:ext>
            </a:extLst>
          </p:cNvPr>
          <p:cNvSpPr txBox="1"/>
          <p:nvPr/>
        </p:nvSpPr>
        <p:spPr>
          <a:xfrm>
            <a:off x="335513" y="3194190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Description: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Define Description for your web page.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20" name="Scroll: Vertical 19">
            <a:extLst>
              <a:ext uri="{FF2B5EF4-FFF2-40B4-BE49-F238E27FC236}">
                <a16:creationId xmlns:a16="http://schemas.microsoft.com/office/drawing/2014/main" id="{0D57E6FE-E607-460B-86FC-2A71402177EE}"/>
              </a:ext>
            </a:extLst>
          </p:cNvPr>
          <p:cNvSpPr/>
          <p:nvPr/>
        </p:nvSpPr>
        <p:spPr>
          <a:xfrm>
            <a:off x="312466" y="3767079"/>
            <a:ext cx="7579400" cy="116597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name=“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description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 content=“Free web for HTML”&gt;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3797144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Meta tags…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382573" y="1869960"/>
            <a:ext cx="7579400" cy="116597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name=“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author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 content=“John Doe”&gt;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B0104A-B615-4D0F-99C4-E5910752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8BDF3-2B19-423A-B197-88B2DDDA29DD}"/>
              </a:ext>
            </a:extLst>
          </p:cNvPr>
          <p:cNvSpPr txBox="1"/>
          <p:nvPr/>
        </p:nvSpPr>
        <p:spPr>
          <a:xfrm>
            <a:off x="382573" y="1330299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Author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: Define author of page.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E049D-E3CD-40FA-AAB9-966C1BE70A27}"/>
              </a:ext>
            </a:extLst>
          </p:cNvPr>
          <p:cNvSpPr txBox="1"/>
          <p:nvPr/>
        </p:nvSpPr>
        <p:spPr>
          <a:xfrm>
            <a:off x="335513" y="3194190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Refresh: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Refresh document every 30 seconds.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20" name="Scroll: Vertical 19">
            <a:extLst>
              <a:ext uri="{FF2B5EF4-FFF2-40B4-BE49-F238E27FC236}">
                <a16:creationId xmlns:a16="http://schemas.microsoft.com/office/drawing/2014/main" id="{0D57E6FE-E607-460B-86FC-2A71402177EE}"/>
              </a:ext>
            </a:extLst>
          </p:cNvPr>
          <p:cNvSpPr/>
          <p:nvPr/>
        </p:nvSpPr>
        <p:spPr>
          <a:xfrm>
            <a:off x="312466" y="3767079"/>
            <a:ext cx="7579400" cy="116597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http-</a:t>
            </a:r>
            <a:r>
              <a:rPr lang="en-US" sz="1800" b="1" i="0" dirty="0" err="1">
                <a:effectLst/>
                <a:latin typeface="Arial" panose="020B0604020202020204" pitchFamily="34" charset="0"/>
              </a:rPr>
              <a:t>equiv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=“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refresh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 content=“30”&gt;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90436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587E-E1ED-482C-9055-233F6A75C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9" name="Google Shape;283;p19">
            <a:extLst>
              <a:ext uri="{FF2B5EF4-FFF2-40B4-BE49-F238E27FC236}">
                <a16:creationId xmlns:a16="http://schemas.microsoft.com/office/drawing/2014/main" id="{48DE2A00-02FF-4E9A-B7B9-A992A48A6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Meta tags…</a:t>
            </a:r>
          </a:p>
        </p:txBody>
      </p:sp>
      <p:grpSp>
        <p:nvGrpSpPr>
          <p:cNvPr id="10" name="Google Shape;288;p19">
            <a:extLst>
              <a:ext uri="{FF2B5EF4-FFF2-40B4-BE49-F238E27FC236}">
                <a16:creationId xmlns:a16="http://schemas.microsoft.com/office/drawing/2014/main" id="{968297C2-D25D-4069-9779-968AE5DA618F}"/>
              </a:ext>
            </a:extLst>
          </p:cNvPr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11" name="Google Shape;289;p19">
              <a:extLst>
                <a:ext uri="{FF2B5EF4-FFF2-40B4-BE49-F238E27FC236}">
                  <a16:creationId xmlns:a16="http://schemas.microsoft.com/office/drawing/2014/main" id="{0EC319CA-A937-4B78-BBCB-40ED75E121A3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0;p19">
              <a:extLst>
                <a:ext uri="{FF2B5EF4-FFF2-40B4-BE49-F238E27FC236}">
                  <a16:creationId xmlns:a16="http://schemas.microsoft.com/office/drawing/2014/main" id="{9A7F0D7C-9872-46F2-B381-0DF952B79668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1;p19">
              <a:extLst>
                <a:ext uri="{FF2B5EF4-FFF2-40B4-BE49-F238E27FC236}">
                  <a16:creationId xmlns:a16="http://schemas.microsoft.com/office/drawing/2014/main" id="{13DC58E3-FC8B-4909-A9A6-51725895AD09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2;p19">
              <a:extLst>
                <a:ext uri="{FF2B5EF4-FFF2-40B4-BE49-F238E27FC236}">
                  <a16:creationId xmlns:a16="http://schemas.microsoft.com/office/drawing/2014/main" id="{3D2A97D3-C479-4F13-901D-5CBDC8DA61B9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3;p19">
              <a:extLst>
                <a:ext uri="{FF2B5EF4-FFF2-40B4-BE49-F238E27FC236}">
                  <a16:creationId xmlns:a16="http://schemas.microsoft.com/office/drawing/2014/main" id="{0BB16B37-EF7D-470A-A16C-9D7D720F37E1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4;p19">
              <a:extLst>
                <a:ext uri="{FF2B5EF4-FFF2-40B4-BE49-F238E27FC236}">
                  <a16:creationId xmlns:a16="http://schemas.microsoft.com/office/drawing/2014/main" id="{EF716EC7-FC0E-4915-851A-00B92931B5AB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5;p19">
              <a:extLst>
                <a:ext uri="{FF2B5EF4-FFF2-40B4-BE49-F238E27FC236}">
                  <a16:creationId xmlns:a16="http://schemas.microsoft.com/office/drawing/2014/main" id="{30DD05F6-5376-448C-9A89-DD9A22EF79C8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BC4EDE87-8B31-4D84-9322-1B0916795175}"/>
              </a:ext>
            </a:extLst>
          </p:cNvPr>
          <p:cNvSpPr/>
          <p:nvPr/>
        </p:nvSpPr>
        <p:spPr>
          <a:xfrm>
            <a:off x="382572" y="1869960"/>
            <a:ext cx="8520795" cy="116597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name=“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viewport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 content=“width=device-width initial-scale=1.0”&gt;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B0104A-B615-4D0F-99C4-E5910752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78BDF3-2B19-423A-B197-88B2DDDA29DD}"/>
              </a:ext>
            </a:extLst>
          </p:cNvPr>
          <p:cNvSpPr txBox="1"/>
          <p:nvPr/>
        </p:nvSpPr>
        <p:spPr>
          <a:xfrm>
            <a:off x="382573" y="1330299"/>
            <a:ext cx="83128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Viewport: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setting the viewport to make your website responsive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2965E-5A32-4190-9AB1-EE90FD1137A9}"/>
              </a:ext>
            </a:extLst>
          </p:cNvPr>
          <p:cNvSpPr txBox="1"/>
          <p:nvPr/>
        </p:nvSpPr>
        <p:spPr>
          <a:xfrm>
            <a:off x="382573" y="3161693"/>
            <a:ext cx="83128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Charset: 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To display an HTML page correctly, a web browser must know which character set (character encoding) to use.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  <p:sp>
        <p:nvSpPr>
          <p:cNvPr id="21" name="Scroll: Vertical 20">
            <a:extLst>
              <a:ext uri="{FF2B5EF4-FFF2-40B4-BE49-F238E27FC236}">
                <a16:creationId xmlns:a16="http://schemas.microsoft.com/office/drawing/2014/main" id="{11916574-A8FA-40B9-B23F-EFDF9CAAFAE4}"/>
              </a:ext>
            </a:extLst>
          </p:cNvPr>
          <p:cNvSpPr/>
          <p:nvPr/>
        </p:nvSpPr>
        <p:spPr>
          <a:xfrm>
            <a:off x="382572" y="4021415"/>
            <a:ext cx="5997605" cy="978892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&lt;head&gt;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&lt;meta charset=“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UTF-8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”&gt;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90052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Self Study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loud 1">
            <a:extLst>
              <a:ext uri="{FF2B5EF4-FFF2-40B4-BE49-F238E27FC236}">
                <a16:creationId xmlns:a16="http://schemas.microsoft.com/office/drawing/2014/main" id="{C0753E9D-2586-414F-AD8F-5083A3DA5F43}"/>
              </a:ext>
            </a:extLst>
          </p:cNvPr>
          <p:cNvSpPr/>
          <p:nvPr/>
        </p:nvSpPr>
        <p:spPr>
          <a:xfrm rot="21174267">
            <a:off x="718142" y="2124189"/>
            <a:ext cx="3831136" cy="180246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Meta tags and SEO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45886-31DF-4AC9-9ED0-75800750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61" y="1557867"/>
            <a:ext cx="2935111" cy="29351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3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Body Section…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2C39F7AB-2343-458E-9175-C454EF0CECFA}"/>
              </a:ext>
            </a:extLst>
          </p:cNvPr>
          <p:cNvSpPr/>
          <p:nvPr/>
        </p:nvSpPr>
        <p:spPr>
          <a:xfrm>
            <a:off x="226161" y="1479884"/>
            <a:ext cx="5997605" cy="1426928"/>
          </a:xfrm>
          <a:prstGeom prst="verticalScroll">
            <a:avLst>
              <a:gd name="adj" fmla="val 16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&lt;body </a:t>
            </a:r>
            <a:r>
              <a:rPr lang="en-US" sz="1800" b="1" i="0" dirty="0" err="1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bgcolor</a:t>
            </a:r>
            <a:r>
              <a:rPr lang="en-US" sz="1800" b="1" i="0" dirty="0">
                <a:solidFill>
                  <a:srgbClr val="FF9800"/>
                </a:solidFill>
                <a:effectLst/>
                <a:latin typeface="Arial" panose="020B0604020202020204" pitchFamily="34" charset="0"/>
              </a:rPr>
              <a:t>=“Red” link="blue"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&lt;h1&gt;hi&lt;/h1&gt;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&lt;/body&gt;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B7399-A0DD-4694-8758-4FC4813D5950}"/>
              </a:ext>
            </a:extLst>
          </p:cNvPr>
          <p:cNvSpPr txBox="1"/>
          <p:nvPr/>
        </p:nvSpPr>
        <p:spPr>
          <a:xfrm>
            <a:off x="382573" y="3161693"/>
            <a:ext cx="876142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Attributes of Body Tag (All are deprecated attributes, use CSS instead):</a:t>
            </a:r>
          </a:p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1)link   2)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vlink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   3)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alink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  </a:t>
            </a:r>
          </a:p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4)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Bgcolor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   5)Background</a:t>
            </a:r>
          </a:p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6)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Topmargin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/ 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leftmargin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/ 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bottommargin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/ 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rightmargino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663204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Headings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2C39F7AB-2343-458E-9175-C454EF0CECFA}"/>
              </a:ext>
            </a:extLst>
          </p:cNvPr>
          <p:cNvSpPr/>
          <p:nvPr/>
        </p:nvSpPr>
        <p:spPr>
          <a:xfrm>
            <a:off x="4881716" y="1581396"/>
            <a:ext cx="4223684" cy="2358191"/>
          </a:xfrm>
          <a:prstGeom prst="verticalScroll">
            <a:avLst>
              <a:gd name="adj" fmla="val 13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endParaRPr lang="en-US" sz="1800" b="1" dirty="0">
              <a:latin typeface="Arial" panose="020B0604020202020204" pitchFamily="34" charset="0"/>
            </a:endParaRP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&lt;h1&gt;Welcome&lt;/h1&gt;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&lt;h2&gt;Welcome&lt;/h2&gt;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&lt;h3&gt;Welcome&lt;/h3&gt;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&lt;h4&gt;Welcome&lt;/h4&gt;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&lt;h5&gt;Welcome&lt;/h5&gt;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&lt;h6&gt;Welcome&lt;/h6&gt;</a:t>
            </a:r>
          </a:p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endParaRPr lang="en-US" sz="18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CD758-700E-4B13-93E7-C15A64E8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7" y="1444539"/>
            <a:ext cx="4686179" cy="35075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28B45-1A99-420C-9515-A25525D5686F}"/>
              </a:ext>
            </a:extLst>
          </p:cNvPr>
          <p:cNvSpPr txBox="1"/>
          <p:nvPr/>
        </p:nvSpPr>
        <p:spPr>
          <a:xfrm>
            <a:off x="459137" y="2244211"/>
            <a:ext cx="411286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Welcome</a:t>
            </a:r>
          </a:p>
          <a:p>
            <a:r>
              <a:rPr lang="en-US" sz="2600" b="1" dirty="0"/>
              <a:t>Welcome</a:t>
            </a:r>
          </a:p>
          <a:p>
            <a:r>
              <a:rPr lang="en-US" sz="2400" b="1" dirty="0"/>
              <a:t>Welcome</a:t>
            </a:r>
          </a:p>
          <a:p>
            <a:r>
              <a:rPr lang="en-US" sz="2000" b="1" dirty="0"/>
              <a:t>Welcome</a:t>
            </a:r>
          </a:p>
          <a:p>
            <a:r>
              <a:rPr lang="en-US" sz="1800" b="1" dirty="0"/>
              <a:t>Welcome</a:t>
            </a:r>
          </a:p>
          <a:p>
            <a:r>
              <a:rPr lang="en-US" sz="1600" b="1" dirty="0"/>
              <a:t>Welcome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02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Text and Paragraphs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2C39F7AB-2343-458E-9175-C454EF0CECFA}"/>
              </a:ext>
            </a:extLst>
          </p:cNvPr>
          <p:cNvSpPr/>
          <p:nvPr/>
        </p:nvSpPr>
        <p:spPr>
          <a:xfrm>
            <a:off x="4881716" y="1581396"/>
            <a:ext cx="4223684" cy="2358191"/>
          </a:xfrm>
          <a:prstGeom prst="verticalScroll">
            <a:avLst>
              <a:gd name="adj" fmla="val 13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endParaRPr lang="en-US" sz="1800" b="1" dirty="0">
              <a:latin typeface="Arial" panose="020B0604020202020204" pitchFamily="34" charset="0"/>
            </a:endParaRP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&lt;p&gt;This is Paragraph&lt;/p&gt;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&lt;p&gt;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 This is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Paragraph</a:t>
            </a:r>
            <a:r>
              <a:rPr lang="en-US" sz="1800" b="1" dirty="0">
                <a:latin typeface="Arial" panose="020B0604020202020204" pitchFamily="34" charset="0"/>
              </a:rPr>
              <a:t> &lt;/p&gt;</a:t>
            </a:r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</a:rPr>
              <a:t>&lt;p&gt;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 This is &lt;</a:t>
            </a:r>
            <a:r>
              <a:rPr lang="en-US" sz="1800" b="1" i="0" dirty="0" err="1">
                <a:effectLst/>
                <a:latin typeface="Arial" panose="020B0604020202020204" pitchFamily="34" charset="0"/>
              </a:rPr>
              <a:t>br</a:t>
            </a:r>
            <a:r>
              <a:rPr lang="en-US" sz="1800" b="1" i="0" dirty="0">
                <a:effectLst/>
                <a:latin typeface="Arial" panose="020B0604020202020204" pitchFamily="34" charset="0"/>
              </a:rPr>
              <a:t>&gt; </a:t>
            </a:r>
            <a:r>
              <a:rPr lang="en-US" sz="1800" b="1" i="0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&lt;!– new line--&gt;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 Paragraph</a:t>
            </a:r>
            <a:r>
              <a:rPr lang="en-US" sz="1800" b="1" dirty="0">
                <a:latin typeface="Arial" panose="020B0604020202020204" pitchFamily="34" charset="0"/>
              </a:rPr>
              <a:t> &lt;/p&gt;</a:t>
            </a:r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endParaRPr lang="en-US" sz="18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CD758-700E-4B13-93E7-C15A64E8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7" y="1444539"/>
            <a:ext cx="4686179" cy="35075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28B45-1A99-420C-9515-A25525D5686F}"/>
              </a:ext>
            </a:extLst>
          </p:cNvPr>
          <p:cNvSpPr txBox="1"/>
          <p:nvPr/>
        </p:nvSpPr>
        <p:spPr>
          <a:xfrm>
            <a:off x="459137" y="2297398"/>
            <a:ext cx="41128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Paragraph</a:t>
            </a:r>
          </a:p>
          <a:p>
            <a:r>
              <a:rPr lang="en-US" sz="2400" dirty="0"/>
              <a:t>This is Paragraph</a:t>
            </a:r>
          </a:p>
          <a:p>
            <a:r>
              <a:rPr lang="en-US" sz="2400" dirty="0"/>
              <a:t>This is </a:t>
            </a:r>
          </a:p>
          <a:p>
            <a:r>
              <a:rPr lang="en-US" sz="2400" dirty="0"/>
              <a:t>Paragraph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33016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Blocks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2C39F7AB-2343-458E-9175-C454EF0CECFA}"/>
              </a:ext>
            </a:extLst>
          </p:cNvPr>
          <p:cNvSpPr/>
          <p:nvPr/>
        </p:nvSpPr>
        <p:spPr>
          <a:xfrm>
            <a:off x="4920316" y="1435236"/>
            <a:ext cx="4223684" cy="3475556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</a:rPr>
              <a:t>&lt;div style=“border:1px solid red”&gt; 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  div1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   &lt;h1&gt;I’m Div1&lt;/h1&gt;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&lt;/div&gt;</a:t>
            </a:r>
          </a:p>
          <a:p>
            <a:r>
              <a:rPr lang="en-US" sz="1800" b="1" i="0" dirty="0">
                <a:effectLst/>
                <a:latin typeface="Arial" panose="020B0604020202020204" pitchFamily="34" charset="0"/>
              </a:rPr>
              <a:t>&lt;div&gt; div2&lt;/div&gt;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&lt;span style=“border:1px solid red“&gt;span 1&lt;/span&gt;</a:t>
            </a:r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</a:rPr>
              <a:t>&lt;span style=“border:1px solid red “&gt;span 2&lt;/span&gt;</a:t>
            </a:r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endParaRPr lang="en-US" sz="18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CD758-700E-4B13-93E7-C15A64E8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7" y="1444539"/>
            <a:ext cx="4686179" cy="35075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28B45-1A99-420C-9515-A25525D5686F}"/>
              </a:ext>
            </a:extLst>
          </p:cNvPr>
          <p:cNvSpPr txBox="1"/>
          <p:nvPr/>
        </p:nvSpPr>
        <p:spPr>
          <a:xfrm>
            <a:off x="459137" y="2345524"/>
            <a:ext cx="411286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div1</a:t>
            </a:r>
          </a:p>
          <a:p>
            <a:r>
              <a:rPr lang="en-US" sz="2400" b="1" dirty="0">
                <a:latin typeface="Arial" panose="020B0604020202020204" pitchFamily="34" charset="0"/>
              </a:rPr>
              <a:t>I’m Div1</a:t>
            </a:r>
            <a:endParaRPr lang="en-US" sz="2400" dirty="0"/>
          </a:p>
          <a:p>
            <a:r>
              <a:rPr lang="en-US" sz="2400" dirty="0"/>
              <a:t>div2</a:t>
            </a:r>
          </a:p>
          <a:p>
            <a:endParaRPr lang="en-US" sz="2400" dirty="0"/>
          </a:p>
          <a:p>
            <a:r>
              <a:rPr lang="en-US" sz="2400" dirty="0"/>
              <a:t>span 1 span 2</a:t>
            </a:r>
          </a:p>
          <a:p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4D070-389B-4EE5-8563-2704D2FC87BB}"/>
              </a:ext>
            </a:extLst>
          </p:cNvPr>
          <p:cNvSpPr/>
          <p:nvPr/>
        </p:nvSpPr>
        <p:spPr>
          <a:xfrm>
            <a:off x="382572" y="2405559"/>
            <a:ext cx="4189427" cy="709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241490-F000-4E76-9466-1A2E0208CB30}"/>
              </a:ext>
            </a:extLst>
          </p:cNvPr>
          <p:cNvSpPr/>
          <p:nvPr/>
        </p:nvSpPr>
        <p:spPr>
          <a:xfrm>
            <a:off x="1521563" y="3770595"/>
            <a:ext cx="1017100" cy="524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BD68FB-B57F-46E8-BEED-3EF66E2F65C5}"/>
              </a:ext>
            </a:extLst>
          </p:cNvPr>
          <p:cNvSpPr/>
          <p:nvPr/>
        </p:nvSpPr>
        <p:spPr>
          <a:xfrm>
            <a:off x="459137" y="3770595"/>
            <a:ext cx="1017100" cy="524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2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Block &amp; Inline Elements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F302A7-7B6F-4583-A8CA-A22905C4E45A}"/>
              </a:ext>
            </a:extLst>
          </p:cNvPr>
          <p:cNvSpPr txBox="1"/>
          <p:nvPr/>
        </p:nvSpPr>
        <p:spPr>
          <a:xfrm>
            <a:off x="283813" y="1501337"/>
            <a:ext cx="87614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Block-level Elements: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A block-level element always starts on a new line and takes up the full width available (stretches out to the left and right as far as it can).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Examples of block-level elements: &lt;div&gt;, &lt;h1&gt; - &lt;h6&gt;, &lt;p&gt;, &lt;form&gt;.</a:t>
            </a:r>
          </a:p>
          <a:p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Inline Elements: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An inline element does not start on a new line and only takes up as much width as necessary.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Examples of inline elements: &lt;span&gt;, &lt;a&gt;, &lt;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img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&gt;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5064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Text Formatting Elements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4554228-1717-4787-BF31-E5646CA9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339867"/>
              </p:ext>
            </p:extLst>
          </p:nvPr>
        </p:nvGraphicFramePr>
        <p:xfrm>
          <a:off x="168442" y="1467296"/>
          <a:ext cx="6761747" cy="36283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84487">
                  <a:extLst>
                    <a:ext uri="{9D8B030D-6E8A-4147-A177-3AD203B41FA5}">
                      <a16:colId xmlns:a16="http://schemas.microsoft.com/office/drawing/2014/main" val="674946322"/>
                    </a:ext>
                  </a:extLst>
                </a:gridCol>
                <a:gridCol w="3477260">
                  <a:extLst>
                    <a:ext uri="{9D8B030D-6E8A-4147-A177-3AD203B41FA5}">
                      <a16:colId xmlns:a16="http://schemas.microsoft.com/office/drawing/2014/main" val="2830702458"/>
                    </a:ext>
                  </a:extLst>
                </a:gridCol>
              </a:tblGrid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&lt;b&gt;text&lt;/b&gt;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writes text as bold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90565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&lt;strong&gt; text &lt;/strong&gt;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Important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385122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i</a:t>
                      </a:r>
                      <a:r>
                        <a:rPr lang="en-US" sz="1600" b="1" dirty="0"/>
                        <a:t>&gt;text&lt;/</a:t>
                      </a:r>
                      <a:r>
                        <a:rPr lang="en-US" sz="1600" b="1" dirty="0" err="1"/>
                        <a:t>i</a:t>
                      </a:r>
                      <a:r>
                        <a:rPr lang="en-US" sz="16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writes text in italics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26676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em</a:t>
                      </a:r>
                      <a:r>
                        <a:rPr lang="en-US" sz="1600" b="1" dirty="0"/>
                        <a:t>&gt; text &lt;/</a:t>
                      </a:r>
                      <a:r>
                        <a:rPr lang="en-US" sz="1600" b="1" dirty="0" err="1"/>
                        <a:t>em</a:t>
                      </a:r>
                      <a:r>
                        <a:rPr lang="en-US" sz="1600" b="1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 Emphasized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03427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&lt;u&gt;text&lt;/u&gt;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writes underlined text (Deprecated)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998551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&lt;sub&gt;text&lt;/sub&gt;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lowers text and makes it smaller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566363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&lt;sup&gt;text&lt;/sup&gt;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lifts text and makes it smaller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43541"/>
                  </a:ext>
                </a:extLst>
              </a:tr>
              <a:tr h="435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&lt;del&gt;text&lt;/del&gt;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strikes a line through the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2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203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Text Formatting Elements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4554228-1717-4787-BF31-E5646CA9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677476"/>
              </p:ext>
            </p:extLst>
          </p:nvPr>
        </p:nvGraphicFramePr>
        <p:xfrm>
          <a:off x="168442" y="1467295"/>
          <a:ext cx="8755478" cy="2515158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252933">
                  <a:extLst>
                    <a:ext uri="{9D8B030D-6E8A-4147-A177-3AD203B41FA5}">
                      <a16:colId xmlns:a16="http://schemas.microsoft.com/office/drawing/2014/main" val="674946322"/>
                    </a:ext>
                  </a:extLst>
                </a:gridCol>
                <a:gridCol w="4502545">
                  <a:extLst>
                    <a:ext uri="{9D8B030D-6E8A-4147-A177-3AD203B41FA5}">
                      <a16:colId xmlns:a16="http://schemas.microsoft.com/office/drawing/2014/main" val="2830702458"/>
                    </a:ext>
                  </a:extLst>
                </a:gridCol>
              </a:tblGrid>
              <a:tr h="63410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&lt;small&gt; text &lt;/small&gt;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Define Smaller text than the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90565"/>
                  </a:ext>
                </a:extLst>
              </a:tr>
              <a:tr h="50467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&lt;mark&gt; text &lt;/mark&gt;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Marked or highlighted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385122"/>
                  </a:ext>
                </a:extLst>
              </a:tr>
              <a:tr h="87170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&lt;font&gt; text &lt;/font&gt;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Defines font size, name and color (Deprecated).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26676"/>
                  </a:ext>
                </a:extLst>
              </a:tr>
              <a:tr h="50467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&lt;center&gt;text&lt;/center&gt;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Show the text on Center (Deprecated).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03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718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Styles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881716" y="1460541"/>
            <a:ext cx="4223684" cy="3475556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</a:rPr>
              <a:t>&lt;body style="</a:t>
            </a:r>
            <a:r>
              <a:rPr lang="en-US" sz="1800" b="1" dirty="0" err="1">
                <a:latin typeface="Arial" panose="020B0604020202020204" pitchFamily="34" charset="0"/>
              </a:rPr>
              <a:t>background-color:red</a:t>
            </a:r>
            <a:r>
              <a:rPr lang="en-US" sz="1800" b="1" dirty="0">
                <a:latin typeface="Arial" panose="020B0604020202020204" pitchFamily="34" charset="0"/>
              </a:rPr>
              <a:t>;"&gt;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&lt;h1 style="</a:t>
            </a:r>
            <a:r>
              <a:rPr lang="en-US" sz="1800" b="1" dirty="0" err="1">
                <a:latin typeface="Arial" panose="020B0604020202020204" pitchFamily="34" charset="0"/>
              </a:rPr>
              <a:t>color:blue</a:t>
            </a:r>
            <a:r>
              <a:rPr lang="en-US" sz="1800" b="1" dirty="0">
                <a:latin typeface="Arial" panose="020B0604020202020204" pitchFamily="34" charset="0"/>
              </a:rPr>
              <a:t>;"&gt;This is a heading&lt;/h1&gt;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&lt;h2 style="</a:t>
            </a:r>
            <a:r>
              <a:rPr lang="en-US" sz="1800" b="1" dirty="0" err="1">
                <a:latin typeface="Arial" panose="020B0604020202020204" pitchFamily="34" charset="0"/>
              </a:rPr>
              <a:t>text-align:center</a:t>
            </a:r>
            <a:r>
              <a:rPr lang="en-US" sz="1800" b="1" dirty="0">
                <a:latin typeface="Arial" panose="020B0604020202020204" pitchFamily="34" charset="0"/>
              </a:rPr>
              <a:t>;"&gt;Centered Heading&lt;/h2&gt;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 &lt;p style="</a:t>
            </a:r>
            <a:r>
              <a:rPr lang="en-US" sz="1800" b="1" dirty="0" err="1">
                <a:latin typeface="Arial" panose="020B0604020202020204" pitchFamily="34" charset="0"/>
              </a:rPr>
              <a:t>font-family:courier</a:t>
            </a:r>
            <a:r>
              <a:rPr lang="en-US" sz="1800" b="1" dirty="0">
                <a:latin typeface="Arial" panose="020B0604020202020204" pitchFamily="34" charset="0"/>
              </a:rPr>
              <a:t>; font-size:16"&gt;This is a paragraph.&lt;/p&gt;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&lt;/body&gt;</a:t>
            </a:r>
            <a:endParaRPr lang="en-US" sz="1800" b="1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97" y="1444539"/>
            <a:ext cx="4686179" cy="35075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948B89-47AB-4EAE-8568-333DC392CC44}"/>
              </a:ext>
            </a:extLst>
          </p:cNvPr>
          <p:cNvSpPr/>
          <p:nvPr/>
        </p:nvSpPr>
        <p:spPr>
          <a:xfrm>
            <a:off x="136969" y="2021305"/>
            <a:ext cx="4622033" cy="288948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1D67B-566D-482D-8E4A-DD8E27562A81}"/>
              </a:ext>
            </a:extLst>
          </p:cNvPr>
          <p:cNvSpPr/>
          <p:nvPr/>
        </p:nvSpPr>
        <p:spPr>
          <a:xfrm>
            <a:off x="312466" y="2201779"/>
            <a:ext cx="3549671" cy="3699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This is a heading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966893" y="2672848"/>
            <a:ext cx="272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Centered Heading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64246A-E577-4F59-BCFF-FF3628151940}"/>
              </a:ext>
            </a:extLst>
          </p:cNvPr>
          <p:cNvSpPr txBox="1"/>
          <p:nvPr/>
        </p:nvSpPr>
        <p:spPr>
          <a:xfrm>
            <a:off x="269914" y="3096716"/>
            <a:ext cx="2726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This is a paragraph</a:t>
            </a:r>
          </a:p>
        </p:txBody>
      </p:sp>
    </p:spTree>
    <p:extLst>
      <p:ext uri="{BB962C8B-B14F-4D97-AF65-F5344CB8AC3E}">
        <p14:creationId xmlns:p14="http://schemas.microsoft.com/office/powerpoint/2010/main" val="2287758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Images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96597" y="1412876"/>
            <a:ext cx="6412487" cy="3666956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0" dirty="0"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Image from a website--&gt;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="http://www.iti.gov.eg/logo.gif"&gt;</a:t>
            </a: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Local Image--&gt;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="/images/logo.gif"&gt;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="logo.gif"&gt;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="../logo.gif"&gt; </a:t>
            </a: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Resizing Image--&gt;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=“logo.gif"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width</a:t>
            </a:r>
            <a:r>
              <a:rPr lang="en-US" sz="1800" b="1" dirty="0">
                <a:latin typeface="Arial" panose="020B0604020202020204" pitchFamily="34" charset="0"/>
              </a:rPr>
              <a:t>="60"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height</a:t>
            </a:r>
            <a:r>
              <a:rPr lang="en-US" sz="1800" b="1" dirty="0">
                <a:latin typeface="Arial" panose="020B0604020202020204" pitchFamily="34" charset="0"/>
              </a:rPr>
              <a:t>="60"&gt;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=“logo.gif"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width</a:t>
            </a:r>
            <a:r>
              <a:rPr lang="en-US" sz="1800" b="1" dirty="0">
                <a:latin typeface="Arial" panose="020B0604020202020204" pitchFamily="34" charset="0"/>
              </a:rPr>
              <a:t>="50%"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height</a:t>
            </a:r>
            <a:r>
              <a:rPr lang="en-US" sz="1800" b="1" dirty="0">
                <a:latin typeface="Arial" panose="020B0604020202020204" pitchFamily="34" charset="0"/>
              </a:rPr>
              <a:t>="60%"&gt;</a:t>
            </a: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Alternative Text--&gt;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&lt;</a:t>
            </a:r>
            <a:r>
              <a:rPr lang="en-US" sz="1800" b="1" dirty="0" err="1">
                <a:latin typeface="Arial" panose="020B0604020202020204" pitchFamily="34" charset="0"/>
              </a:rPr>
              <a:t>img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latin typeface="Arial" panose="020B0604020202020204" pitchFamily="34" charset="0"/>
              </a:rPr>
              <a:t>=“logo.gif"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alt</a:t>
            </a:r>
            <a:r>
              <a:rPr lang="en-US" sz="1800" b="1" dirty="0">
                <a:latin typeface="Arial" panose="020B0604020202020204" pitchFamily="34" charset="0"/>
              </a:rPr>
              <a:t>="image Not Found"&gt;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2356E2-EC49-4C96-A843-9EBE88BA4241}"/>
              </a:ext>
            </a:extLst>
          </p:cNvPr>
          <p:cNvCxnSpPr>
            <a:cxnSpLocks/>
          </p:cNvCxnSpPr>
          <p:nvPr/>
        </p:nvCxnSpPr>
        <p:spPr>
          <a:xfrm flipV="1">
            <a:off x="5409268" y="3537284"/>
            <a:ext cx="1099816" cy="1294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3A8A61-BA69-4A8D-9F23-71E47E8F7B13}"/>
              </a:ext>
            </a:extLst>
          </p:cNvPr>
          <p:cNvSpPr txBox="1"/>
          <p:nvPr/>
        </p:nvSpPr>
        <p:spPr>
          <a:xfrm>
            <a:off x="6509084" y="2782810"/>
            <a:ext cx="2736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Image not load</a:t>
            </a:r>
          </a:p>
          <a:p>
            <a:r>
              <a:rPr lang="en-US" sz="1600" b="1" dirty="0"/>
              <a:t>Search Engine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160539-4A2C-49FA-95A9-8A719AC695A8}"/>
              </a:ext>
            </a:extLst>
          </p:cNvPr>
          <p:cNvSpPr/>
          <p:nvPr/>
        </p:nvSpPr>
        <p:spPr>
          <a:xfrm>
            <a:off x="6251232" y="2714289"/>
            <a:ext cx="2315252" cy="821466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02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Links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96597" y="1461003"/>
            <a:ext cx="7166967" cy="3666956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&lt;!—First, define bookmark using id attribute --&gt;</a:t>
            </a:r>
          </a:p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&lt;h2 id="tips"&gt;Useful Tips Section&lt;/h2&gt; </a:t>
            </a: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Then add link to it--&gt;</a:t>
            </a:r>
          </a:p>
          <a:p>
            <a:r>
              <a:rPr lang="en-US" sz="1800" b="1" dirty="0">
                <a:solidFill>
                  <a:schemeClr val="bg1"/>
                </a:solidFill>
                <a:latin typeface="Arial"/>
                <a:cs typeface="Arial"/>
              </a:rPr>
              <a:t>&lt;a </a:t>
            </a:r>
            <a:r>
              <a:rPr lang="en-US" sz="1800" b="1" dirty="0" err="1">
                <a:solidFill>
                  <a:srgbClr val="FF9800"/>
                </a:solidFill>
                <a:latin typeface="Arial"/>
                <a:cs typeface="Arial"/>
              </a:rPr>
              <a:t>href</a:t>
            </a:r>
            <a:r>
              <a:rPr lang="en-US" sz="1800" b="1" dirty="0">
                <a:solidFill>
                  <a:schemeClr val="bg1"/>
                </a:solidFill>
                <a:latin typeface="Arial"/>
                <a:cs typeface="Arial"/>
              </a:rPr>
              <a:t>="#tips"&gt;Go to Page Top&lt;/a&gt; </a:t>
            </a: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800" b="1" dirty="0">
              <a:solidFill>
                <a:srgbClr val="00B050"/>
              </a:solidFill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</a:rPr>
              <a:t>&lt;!-- When you link to anchors on external pages use this syntax --&gt;</a:t>
            </a:r>
          </a:p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&lt;a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href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="http://www.iti.gov.eg/rules/rules.htm#Section_a"&gt;Rules - Section a &lt;/a&gt;</a:t>
            </a:r>
          </a:p>
        </p:txBody>
      </p:sp>
    </p:spTree>
    <p:extLst>
      <p:ext uri="{BB962C8B-B14F-4D97-AF65-F5344CB8AC3E}">
        <p14:creationId xmlns:p14="http://schemas.microsoft.com/office/powerpoint/2010/main" val="2746431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Links   “Target”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219184" y="3456845"/>
            <a:ext cx="6448582" cy="1495255"/>
          </a:xfrm>
          <a:prstGeom prst="verticalScroll">
            <a:avLst>
              <a:gd name="adj" fmla="val 19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&lt;a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href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="http://www.iti.gov.eg" </a:t>
            </a:r>
            <a:r>
              <a:rPr lang="en-US" sz="1800" b="1" dirty="0">
                <a:solidFill>
                  <a:srgbClr val="FF9800"/>
                </a:solidFill>
                <a:latin typeface="Arial" panose="020B0604020202020204" pitchFamily="34" charset="0"/>
              </a:rPr>
              <a:t>target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="_blank"&gt;ITI Website&lt;/a&gt;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F6ED9-243E-4564-90E5-284EE44A750F}"/>
              </a:ext>
            </a:extLst>
          </p:cNvPr>
          <p:cNvSpPr txBox="1"/>
          <p:nvPr/>
        </p:nvSpPr>
        <p:spPr>
          <a:xfrm>
            <a:off x="312466" y="1291044"/>
            <a:ext cx="87614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_blank : Opens the linked document in a new window or tab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_self :Opens the linked document in the same window/tab as it was clicked (this is default)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_parent : Opens the linked document in the parent frame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_top : Opens the linked document in the full body of the window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framename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 : Opens the linked document in a named frame</a:t>
            </a:r>
          </a:p>
        </p:txBody>
      </p:sp>
    </p:spTree>
    <p:extLst>
      <p:ext uri="{BB962C8B-B14F-4D97-AF65-F5344CB8AC3E}">
        <p14:creationId xmlns:p14="http://schemas.microsoft.com/office/powerpoint/2010/main" val="1899143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Links   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219184" y="1853043"/>
            <a:ext cx="6448582" cy="790139"/>
          </a:xfrm>
          <a:prstGeom prst="verticalScroll">
            <a:avLst>
              <a:gd name="adj" fmla="val 19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&lt;a </a:t>
            </a:r>
            <a:r>
              <a:rPr lang="en-US" sz="1800" b="1" dirty="0" err="1">
                <a:solidFill>
                  <a:srgbClr val="FF9800"/>
                </a:solidFill>
                <a:latin typeface="Arial" panose="020B0604020202020204" pitchFamily="34" charset="0"/>
              </a:rPr>
              <a:t>href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="myfile.htm"&gt;&lt;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img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rial" panose="020B0604020202020204" pitchFamily="34" charset="0"/>
              </a:rPr>
              <a:t>src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="rainbow.gif"&gt;&lt;/a&gt;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0F6ED9-243E-4564-90E5-284EE44A750F}"/>
              </a:ext>
            </a:extLst>
          </p:cNvPr>
          <p:cNvSpPr txBox="1"/>
          <p:nvPr/>
        </p:nvSpPr>
        <p:spPr>
          <a:xfrm>
            <a:off x="312466" y="1291044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Image Link</a:t>
            </a:r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4FDCA3F9-3E16-426B-9A8A-BCCBD6EB8D28}"/>
              </a:ext>
            </a:extLst>
          </p:cNvPr>
          <p:cNvSpPr/>
          <p:nvPr/>
        </p:nvSpPr>
        <p:spPr>
          <a:xfrm>
            <a:off x="38600" y="3366615"/>
            <a:ext cx="7579400" cy="1391171"/>
          </a:xfrm>
          <a:prstGeom prst="verticalScroll">
            <a:avLst>
              <a:gd name="adj" fmla="val 197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&lt;a </a:t>
            </a:r>
            <a:r>
              <a:rPr lang="pt-BR" sz="1800" b="1" dirty="0">
                <a:solidFill>
                  <a:srgbClr val="FF9800"/>
                </a:solidFill>
                <a:latin typeface="Arial" panose="020B0604020202020204" pitchFamily="34" charset="0"/>
              </a:rPr>
              <a:t>href</a:t>
            </a:r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="mailto:email@hotmail.com"&gt;Send Mail&lt;/a&gt; </a:t>
            </a:r>
          </a:p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  <a:t>&lt;a </a:t>
            </a:r>
            <a:r>
              <a:rPr lang="pt-BR" sz="1800" b="1" dirty="0">
                <a:solidFill>
                  <a:srgbClr val="FF9800"/>
                </a:solidFill>
                <a:latin typeface="Arial" panose="020B0604020202020204" pitchFamily="34" charset="0"/>
              </a:rPr>
              <a:t>href</a:t>
            </a:r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</a:rPr>
              <a:t>="mailto:email@hotmail.com?subject=Hello"&gt;Send Email&lt;/a&gt;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5EC6B7-F35C-4EC5-86D9-EC25F3AF1984}"/>
              </a:ext>
            </a:extLst>
          </p:cNvPr>
          <p:cNvSpPr txBox="1"/>
          <p:nvPr/>
        </p:nvSpPr>
        <p:spPr>
          <a:xfrm>
            <a:off x="312465" y="2854675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</a:rPr>
              <a:t>Link to Email</a:t>
            </a:r>
            <a:endParaRPr lang="en-US" sz="2100" b="1" dirty="0">
              <a:solidFill>
                <a:schemeClr val="dk1"/>
              </a:solidFill>
              <a:latin typeface="Arial" panose="020B0604020202020204" pitchFamily="34" charset="0"/>
              <a:ea typeface="Roboto Condensed Light"/>
              <a:sym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397013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Lists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920316" y="2074695"/>
            <a:ext cx="4223684" cy="2247247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&lt;ul&gt;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&lt;li&gt;Networks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&lt;li&gt;Software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&lt;li&gt;Multimedia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&lt;/ul&gt;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" y="2133908"/>
            <a:ext cx="4686179" cy="202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312466" y="2571750"/>
            <a:ext cx="2726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Network Dept.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Software Dept.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Multimedia Dept.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86E-40FA-41A1-8643-5DD04739D071}"/>
              </a:ext>
            </a:extLst>
          </p:cNvPr>
          <p:cNvSpPr txBox="1"/>
          <p:nvPr/>
        </p:nvSpPr>
        <p:spPr>
          <a:xfrm>
            <a:off x="189118" y="1469077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Unordered List</a:t>
            </a:r>
          </a:p>
        </p:txBody>
      </p:sp>
    </p:spTree>
    <p:extLst>
      <p:ext uri="{BB962C8B-B14F-4D97-AF65-F5344CB8AC3E}">
        <p14:creationId xmlns:p14="http://schemas.microsoft.com/office/powerpoint/2010/main" val="2340016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Lists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920316" y="2074695"/>
            <a:ext cx="4223684" cy="2247247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&lt;ul style="list-style-type:disc"&gt;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&lt;li&gt;Networks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&lt;li&gt;Software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&lt;li&gt;Multimedia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&lt;/ul&gt;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" y="2133908"/>
            <a:ext cx="4686179" cy="202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312466" y="2571750"/>
            <a:ext cx="2726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Network Dept.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Software Dept.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Multimedia Dept.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86E-40FA-41A1-8643-5DD04739D071}"/>
              </a:ext>
            </a:extLst>
          </p:cNvPr>
          <p:cNvSpPr txBox="1"/>
          <p:nvPr/>
        </p:nvSpPr>
        <p:spPr>
          <a:xfrm>
            <a:off x="189118" y="1469077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Unordered List</a:t>
            </a:r>
          </a:p>
        </p:txBody>
      </p:sp>
    </p:spTree>
    <p:extLst>
      <p:ext uri="{BB962C8B-B14F-4D97-AF65-F5344CB8AC3E}">
        <p14:creationId xmlns:p14="http://schemas.microsoft.com/office/powerpoint/2010/main" val="822929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Lists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920316" y="2074695"/>
            <a:ext cx="4223684" cy="2247247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&lt;ol&gt;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&lt;li&gt;Networks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&lt;li&gt;Software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&lt;li&gt;Multimedia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&lt;/ol&gt;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" y="2133908"/>
            <a:ext cx="4686179" cy="202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312466" y="2571750"/>
            <a:ext cx="2726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Multimedia Dept.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Network Dept.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Software Dept.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86E-40FA-41A1-8643-5DD04739D071}"/>
              </a:ext>
            </a:extLst>
          </p:cNvPr>
          <p:cNvSpPr txBox="1"/>
          <p:nvPr/>
        </p:nvSpPr>
        <p:spPr>
          <a:xfrm>
            <a:off x="189118" y="1469077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Ordered List</a:t>
            </a:r>
          </a:p>
        </p:txBody>
      </p:sp>
    </p:spTree>
    <p:extLst>
      <p:ext uri="{BB962C8B-B14F-4D97-AF65-F5344CB8AC3E}">
        <p14:creationId xmlns:p14="http://schemas.microsoft.com/office/powerpoint/2010/main" val="177337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Lists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726861" y="2607986"/>
            <a:ext cx="4223684" cy="2247247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&lt;ol type="1"&gt;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&lt;li&gt;Networks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&lt;li&gt;Software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&lt;li&gt;Multimedia Dept.&lt;/li&gt;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&lt;/ol&gt;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" y="2604318"/>
            <a:ext cx="4686179" cy="202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189118" y="2978966"/>
            <a:ext cx="2726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Multimedia Dept.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Network Dept.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Software Dept.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86E-40FA-41A1-8643-5DD04739D071}"/>
              </a:ext>
            </a:extLst>
          </p:cNvPr>
          <p:cNvSpPr txBox="1"/>
          <p:nvPr/>
        </p:nvSpPr>
        <p:spPr>
          <a:xfrm>
            <a:off x="189118" y="1322583"/>
            <a:ext cx="876142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Ordered List</a:t>
            </a:r>
          </a:p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The type attribute of the &lt;</a:t>
            </a:r>
            <a:r>
              <a:rPr lang="en-US" sz="2100" b="1" dirty="0" err="1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ol</a:t>
            </a:r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&gt; tag, defines the type of the list item </a:t>
            </a:r>
          </a:p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marker: </a:t>
            </a:r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type="1“, type="A“, type="a“, type="I“, type="</a:t>
            </a:r>
            <a:r>
              <a:rPr lang="en-US" sz="2100" b="1" dirty="0" err="1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i</a:t>
            </a:r>
            <a:r>
              <a:rPr lang="en-US" sz="2100" b="1" dirty="0">
                <a:solidFill>
                  <a:srgbClr val="FF9800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1986060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HTML Lists</a:t>
            </a:r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E496BC-EA88-4022-A66D-F9D81E2A7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4" y="63018"/>
            <a:ext cx="820846" cy="821465"/>
          </a:xfrm>
          <a:prstGeom prst="rect">
            <a:avLst/>
          </a:prstGeom>
        </p:spPr>
      </p:pic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BCEAA2C8-6F2C-4025-B6AA-60A7DF3E7475}"/>
              </a:ext>
            </a:extLst>
          </p:cNvPr>
          <p:cNvSpPr/>
          <p:nvPr/>
        </p:nvSpPr>
        <p:spPr>
          <a:xfrm>
            <a:off x="4920316" y="1451831"/>
            <a:ext cx="4223684" cy="3163167"/>
          </a:xfrm>
          <a:prstGeom prst="verticalScroll">
            <a:avLst>
              <a:gd name="adj" fmla="val 92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&lt;ul&gt;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&lt;li&gt;Coffee&lt;/li&gt;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&lt;li&gt;Tea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&lt;ul&gt;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&lt;li&gt;Black tea&lt;/li&gt;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&lt;li&gt;Green tea&lt;/li&gt;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 &lt;/ul&gt;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&lt;li&gt;Milk&lt;/li&gt;</a:t>
            </a:r>
          </a:p>
          <a:p>
            <a:r>
              <a:rPr lang="it-IT" sz="1800" b="1" i="0" dirty="0">
                <a:effectLst/>
                <a:latin typeface="Arial" panose="020B0604020202020204" pitchFamily="34" charset="0"/>
              </a:rPr>
              <a:t>&lt;/ul&gt;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BB6BB8-DC12-4325-A827-176CFDB26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8" y="2133908"/>
            <a:ext cx="4686179" cy="2028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74542-7B3E-43FD-B70D-B3813DF856EA}"/>
              </a:ext>
            </a:extLst>
          </p:cNvPr>
          <p:cNvSpPr txBox="1"/>
          <p:nvPr/>
        </p:nvSpPr>
        <p:spPr>
          <a:xfrm>
            <a:off x="312466" y="2571750"/>
            <a:ext cx="2726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Coffee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Tea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sz="1800" b="1" dirty="0"/>
              <a:t>Black tea</a:t>
            </a:r>
          </a:p>
          <a:p>
            <a:pPr marL="457200" indent="-168275">
              <a:buFont typeface="Arial" panose="020B0604020202020204" pitchFamily="34" charset="0"/>
              <a:buChar char="•"/>
            </a:pPr>
            <a:r>
              <a:rPr lang="en-US" sz="1800" b="1" dirty="0"/>
              <a:t>Green tea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Milk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11A86E-40FA-41A1-8643-5DD04739D071}"/>
              </a:ext>
            </a:extLst>
          </p:cNvPr>
          <p:cNvSpPr txBox="1"/>
          <p:nvPr/>
        </p:nvSpPr>
        <p:spPr>
          <a:xfrm>
            <a:off x="189118" y="1469077"/>
            <a:ext cx="87614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dk1"/>
                </a:solidFill>
                <a:latin typeface="Arial" panose="020B0604020202020204" pitchFamily="34" charset="0"/>
                <a:ea typeface="Roboto Condensed Light"/>
                <a:sym typeface="Roboto Condensed Light"/>
              </a:rPr>
              <a:t>Nested List</a:t>
            </a:r>
          </a:p>
        </p:txBody>
      </p:sp>
    </p:spTree>
    <p:extLst>
      <p:ext uri="{BB962C8B-B14F-4D97-AF65-F5344CB8AC3E}">
        <p14:creationId xmlns:p14="http://schemas.microsoft.com/office/powerpoint/2010/main" val="3047159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1F19E-F047-417D-94E2-33F9988F6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2883" y="904939"/>
            <a:ext cx="4855780" cy="3731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D1DBC88B2702448392B11BF121D4E5" ma:contentTypeVersion="10" ma:contentTypeDescription="Create a new document." ma:contentTypeScope="" ma:versionID="fb0e5ed820c2d4f0a30ba617ba46a9f5">
  <xsd:schema xmlns:xsd="http://www.w3.org/2001/XMLSchema" xmlns:xs="http://www.w3.org/2001/XMLSchema" xmlns:p="http://schemas.microsoft.com/office/2006/metadata/properties" xmlns:ns2="4a01305a-94fb-46f8-a1a3-ccd1ebd4b834" targetNamespace="http://schemas.microsoft.com/office/2006/metadata/properties" ma:root="true" ma:fieldsID="60d38b4b364289c2353fa9f08c619310" ns2:_="">
    <xsd:import namespace="4a01305a-94fb-46f8-a1a3-ccd1ebd4b8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01305a-94fb-46f8-a1a3-ccd1ebd4b8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6D0237-FDFD-44DE-B19F-D86453B899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8BE03-DFBA-4819-9657-A760D253003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C3560D-EB78-46E5-9E7A-6EA3AFF6A9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01305a-94fb-46f8-a1a3-ccd1ebd4b8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2021</Words>
  <Application>Microsoft Office PowerPoint</Application>
  <PresentationFormat>On-screen Show (16:9)</PresentationFormat>
  <Paragraphs>368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Courier New</vt:lpstr>
      <vt:lpstr>Arial</vt:lpstr>
      <vt:lpstr>Roboto Condensed Light</vt:lpstr>
      <vt:lpstr>Arvo</vt:lpstr>
      <vt:lpstr>Roboto Condensed</vt:lpstr>
      <vt:lpstr>Wingdings</vt:lpstr>
      <vt:lpstr>Salerio template</vt:lpstr>
      <vt:lpstr>HTML &amp; Css Day1</vt:lpstr>
      <vt:lpstr>Introduction</vt:lpstr>
      <vt:lpstr>PowerPoint Presentation</vt:lpstr>
      <vt:lpstr>PowerPoint Presentation</vt:lpstr>
      <vt:lpstr>Introduction to HTML</vt:lpstr>
      <vt:lpstr>PowerPoint Presentation</vt:lpstr>
      <vt:lpstr>What is HTML ?</vt:lpstr>
      <vt:lpstr>PowerPoint Presentation</vt:lpstr>
      <vt:lpstr>HTML Elements</vt:lpstr>
      <vt:lpstr>HTML Comments</vt:lpstr>
      <vt:lpstr>HTML Attributes</vt:lpstr>
      <vt:lpstr>HTML Entities</vt:lpstr>
      <vt:lpstr>HTML Colors</vt:lpstr>
      <vt:lpstr>Let’s Start ….</vt:lpstr>
      <vt:lpstr>HTML Document structure</vt:lpstr>
      <vt:lpstr>HTML Document structure…..</vt:lpstr>
      <vt:lpstr>Head Section…</vt:lpstr>
      <vt:lpstr>Head Section…</vt:lpstr>
      <vt:lpstr>Meta tags…</vt:lpstr>
      <vt:lpstr>Meta tags…</vt:lpstr>
      <vt:lpstr>Meta tags…</vt:lpstr>
      <vt:lpstr>Self Study</vt:lpstr>
      <vt:lpstr>Body Section…</vt:lpstr>
      <vt:lpstr>HTML Headings</vt:lpstr>
      <vt:lpstr>HTML Text and Paragraphs</vt:lpstr>
      <vt:lpstr>HTML Blocks</vt:lpstr>
      <vt:lpstr>Block &amp; Inline Elements</vt:lpstr>
      <vt:lpstr>Text Formatting Elements</vt:lpstr>
      <vt:lpstr>Text Formatting Elements</vt:lpstr>
      <vt:lpstr>HTML Styles</vt:lpstr>
      <vt:lpstr>HTML Images</vt:lpstr>
      <vt:lpstr>HTML Links</vt:lpstr>
      <vt:lpstr>HTML Links   “Target”</vt:lpstr>
      <vt:lpstr>HTML Links   </vt:lpstr>
      <vt:lpstr>HTML Lists</vt:lpstr>
      <vt:lpstr>HTML Lists</vt:lpstr>
      <vt:lpstr>HTML Lists</vt:lpstr>
      <vt:lpstr>HTML Lists</vt:lpstr>
      <vt:lpstr>HTML Lists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</dc:title>
  <dc:creator>nawal zaki</dc:creator>
  <cp:lastModifiedBy>Mikhail Emad</cp:lastModifiedBy>
  <cp:revision>12</cp:revision>
  <dcterms:modified xsi:type="dcterms:W3CDTF">2024-11-26T22:11:11Z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0x010100B0D1DBC88B2702448392B11BF121D4E5</vt:lpwstr>
  </property>
</Properties>
</file>